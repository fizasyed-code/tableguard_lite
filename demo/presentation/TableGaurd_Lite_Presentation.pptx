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ileron" panose="020B0604020202020204" charset="0"/>
      <p:regular r:id="rId10"/>
    </p:embeddedFont>
    <p:embeddedFont>
      <p:font typeface="Aileron Bold" panose="020B0604020202020204" charset="0"/>
      <p:regular r:id="rId11"/>
    </p:embeddedFont>
    <p:embeddedFont>
      <p:font typeface="Arial Black" panose="020B0A04020102020204" pitchFamily="34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DM Sans" panose="020B0604020202020204" charset="0"/>
      <p:regular r:id="rId17"/>
    </p:embeddedFon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  <p:embeddedFont>
      <p:font typeface="Montserrat Bold" panose="020B0604020202020204" charset="0"/>
      <p:regular r:id="rId22"/>
    </p:embeddedFont>
    <p:embeddedFont>
      <p:font typeface="Montserrat Medium" panose="00000600000000000000" pitchFamily="2" charset="0"/>
      <p:regular r:id="rId23"/>
      <p:italic r:id="rId24"/>
    </p:embeddedFont>
    <p:embeddedFont>
      <p:font typeface="Montserrat Semi-Bold" panose="020B0604020202020204" charset="0"/>
      <p:regular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Bold" panose="02000000000000000000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34500" y="838200"/>
            <a:ext cx="8039100" cy="8610600"/>
            <a:chOff x="0" y="0"/>
            <a:chExt cx="10718800" cy="1148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18800" cy="11480800"/>
            </a:xfrm>
            <a:custGeom>
              <a:avLst/>
              <a:gdLst/>
              <a:ahLst/>
              <a:cxnLst/>
              <a:rect l="l" t="t" r="r" b="b"/>
              <a:pathLst>
                <a:path w="10718800" h="11480800">
                  <a:moveTo>
                    <a:pt x="330200" y="0"/>
                  </a:moveTo>
                  <a:lnTo>
                    <a:pt x="10388600" y="0"/>
                  </a:lnTo>
                  <a:cubicBezTo>
                    <a:pt x="10570964" y="0"/>
                    <a:pt x="10718800" y="147836"/>
                    <a:pt x="10718800" y="330200"/>
                  </a:cubicBezTo>
                  <a:lnTo>
                    <a:pt x="10718800" y="11150600"/>
                  </a:lnTo>
                  <a:cubicBezTo>
                    <a:pt x="10718800" y="11332964"/>
                    <a:pt x="10570964" y="11480800"/>
                    <a:pt x="10388600" y="11480800"/>
                  </a:cubicBezTo>
                  <a:lnTo>
                    <a:pt x="330200" y="11480800"/>
                  </a:lnTo>
                  <a:cubicBezTo>
                    <a:pt x="147836" y="11480800"/>
                    <a:pt x="0" y="11332964"/>
                    <a:pt x="0" y="111506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718800" cy="1151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77400" y="1200150"/>
            <a:ext cx="19050" cy="7886700"/>
            <a:chOff x="0" y="0"/>
            <a:chExt cx="25400" cy="10515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00" cy="10515600"/>
            </a:xfrm>
            <a:custGeom>
              <a:avLst/>
              <a:gdLst/>
              <a:ahLst/>
              <a:cxnLst/>
              <a:rect l="l" t="t" r="r" b="b"/>
              <a:pathLst>
                <a:path w="25400" h="10515600">
                  <a:moveTo>
                    <a:pt x="0" y="0"/>
                  </a:moveTo>
                  <a:lnTo>
                    <a:pt x="25400" y="0"/>
                  </a:lnTo>
                  <a:lnTo>
                    <a:pt x="25400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DCE5EF">
                <a:alpha val="71765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00" cy="1055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77400" y="1200150"/>
            <a:ext cx="7353300" cy="19050"/>
            <a:chOff x="0" y="0"/>
            <a:chExt cx="9804400" cy="25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04400" cy="25400"/>
            </a:xfrm>
            <a:custGeom>
              <a:avLst/>
              <a:gdLst/>
              <a:ahLst/>
              <a:cxnLst/>
              <a:rect l="l" t="t" r="r" b="b"/>
              <a:pathLst>
                <a:path w="9804400" h="25400">
                  <a:moveTo>
                    <a:pt x="0" y="0"/>
                  </a:moveTo>
                  <a:lnTo>
                    <a:pt x="9804400" y="0"/>
                  </a:lnTo>
                  <a:lnTo>
                    <a:pt x="9804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5EF">
                <a:alpha val="71765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8044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77400" y="9067800"/>
            <a:ext cx="7353300" cy="19050"/>
            <a:chOff x="0" y="0"/>
            <a:chExt cx="9804400" cy="25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04400" cy="25400"/>
            </a:xfrm>
            <a:custGeom>
              <a:avLst/>
              <a:gdLst/>
              <a:ahLst/>
              <a:cxnLst/>
              <a:rect l="l" t="t" r="r" b="b"/>
              <a:pathLst>
                <a:path w="9804400" h="25400">
                  <a:moveTo>
                    <a:pt x="0" y="0"/>
                  </a:moveTo>
                  <a:lnTo>
                    <a:pt x="9804400" y="0"/>
                  </a:lnTo>
                  <a:lnTo>
                    <a:pt x="9804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5EF">
                <a:alpha val="71765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8044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11650" y="1200150"/>
            <a:ext cx="19050" cy="7886700"/>
            <a:chOff x="0" y="0"/>
            <a:chExt cx="25400" cy="10515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400" cy="10515600"/>
            </a:xfrm>
            <a:custGeom>
              <a:avLst/>
              <a:gdLst/>
              <a:ahLst/>
              <a:cxnLst/>
              <a:rect l="l" t="t" r="r" b="b"/>
              <a:pathLst>
                <a:path w="25400" h="10515600">
                  <a:moveTo>
                    <a:pt x="0" y="0"/>
                  </a:moveTo>
                  <a:lnTo>
                    <a:pt x="25400" y="0"/>
                  </a:lnTo>
                  <a:lnTo>
                    <a:pt x="25400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DCE5EF">
                <a:alpha val="71765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5400" cy="1055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668750" y="1562100"/>
            <a:ext cx="114300" cy="114300"/>
            <a:chOff x="0" y="0"/>
            <a:chExt cx="152400" cy="152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0"/>
                  </a:moveTo>
                  <a:lnTo>
                    <a:pt x="114300" y="0"/>
                  </a:lnTo>
                  <a:cubicBezTo>
                    <a:pt x="135342" y="0"/>
                    <a:pt x="152400" y="17058"/>
                    <a:pt x="152400" y="38100"/>
                  </a:cubicBezTo>
                  <a:lnTo>
                    <a:pt x="152400" y="114300"/>
                  </a:lnTo>
                  <a:cubicBezTo>
                    <a:pt x="152400" y="135342"/>
                    <a:pt x="135342" y="152400"/>
                    <a:pt x="114300" y="152400"/>
                  </a:cubicBezTo>
                  <a:lnTo>
                    <a:pt x="38100" y="152400"/>
                  </a:lnTo>
                  <a:cubicBezTo>
                    <a:pt x="17058" y="152400"/>
                    <a:pt x="0" y="135342"/>
                    <a:pt x="0" y="1143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E73E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16300" y="8743950"/>
            <a:ext cx="514350" cy="19050"/>
            <a:chOff x="0" y="0"/>
            <a:chExt cx="685800" cy="25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5800" cy="25400"/>
            </a:xfrm>
            <a:custGeom>
              <a:avLst/>
              <a:gdLst/>
              <a:ahLst/>
              <a:cxnLst/>
              <a:rect l="l" t="t" r="r" b="b"/>
              <a:pathLst>
                <a:path w="685800" h="25400">
                  <a:moveTo>
                    <a:pt x="0" y="0"/>
                  </a:moveTo>
                  <a:lnTo>
                    <a:pt x="685800" y="0"/>
                  </a:lnTo>
                  <a:lnTo>
                    <a:pt x="685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E73E8">
                <a:alpha val="84706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858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9734550" y="1524000"/>
            <a:ext cx="7239000" cy="6572250"/>
          </a:xfrm>
          <a:custGeom>
            <a:avLst/>
            <a:gdLst/>
            <a:ahLst/>
            <a:cxnLst/>
            <a:rect l="l" t="t" r="r" b="b"/>
            <a:pathLst>
              <a:path w="7239000" h="6572250">
                <a:moveTo>
                  <a:pt x="0" y="0"/>
                </a:moveTo>
                <a:lnTo>
                  <a:pt x="7239000" y="0"/>
                </a:lnTo>
                <a:lnTo>
                  <a:pt x="72390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27" r="-10627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14400" y="1038225"/>
            <a:ext cx="7810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10">
                <a:solidFill>
                  <a:srgbClr val="1E73E8"/>
                </a:solidFill>
                <a:latin typeface="Garet Bold"/>
                <a:ea typeface="Garet Bold"/>
                <a:cs typeface="Garet Bold"/>
                <a:sym typeface="Garet Bold"/>
              </a:rPr>
              <a:t>LABLAB AI INFRA SUMMIT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" y="1466850"/>
            <a:ext cx="838200" cy="38100"/>
            <a:chOff x="0" y="0"/>
            <a:chExt cx="1117600" cy="50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17600" cy="50800"/>
            </a:xfrm>
            <a:custGeom>
              <a:avLst/>
              <a:gdLst/>
              <a:ahLst/>
              <a:cxnLst/>
              <a:rect l="l" t="t" r="r" b="b"/>
              <a:pathLst>
                <a:path w="1117600" h="50800">
                  <a:moveTo>
                    <a:pt x="25400" y="0"/>
                  </a:moveTo>
                  <a:lnTo>
                    <a:pt x="1092200" y="0"/>
                  </a:lnTo>
                  <a:cubicBezTo>
                    <a:pt x="1106228" y="0"/>
                    <a:pt x="1117600" y="11372"/>
                    <a:pt x="1117600" y="25400"/>
                  </a:cubicBezTo>
                  <a:cubicBezTo>
                    <a:pt x="1117600" y="39428"/>
                    <a:pt x="1106228" y="50800"/>
                    <a:pt x="1092200" y="50800"/>
                  </a:cubicBezTo>
                  <a:lnTo>
                    <a:pt x="25400" y="50800"/>
                  </a:lnTo>
                  <a:cubicBezTo>
                    <a:pt x="11372" y="50800"/>
                    <a:pt x="0" y="39428"/>
                    <a:pt x="0" y="25400"/>
                  </a:cubicBez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E73E8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17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4400" y="1704975"/>
            <a:ext cx="7810500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dirty="0" err="1">
                <a:solidFill>
                  <a:srgbClr val="0B1F3A"/>
                </a:solidFill>
                <a:latin typeface="Roboto Bold"/>
                <a:ea typeface="Roboto Bold"/>
                <a:cs typeface="Roboto Bold"/>
                <a:sym typeface="Roboto Bold"/>
              </a:rPr>
              <a:t>TableGuard</a:t>
            </a:r>
            <a:r>
              <a:rPr lang="en-US" sz="6800" b="1" dirty="0">
                <a:solidFill>
                  <a:srgbClr val="0B1F3A"/>
                </a:solidFill>
                <a:latin typeface="Roboto Bold"/>
                <a:ea typeface="Roboto Bold"/>
                <a:cs typeface="Roboto Bold"/>
                <a:sym typeface="Roboto Bold"/>
              </a:rPr>
              <a:t>-Lite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00" y="3056255"/>
            <a:ext cx="7143750" cy="71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00" b="1" dirty="0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Safety-Aware Closed-Loop Bimanual VLA for Reliable Table Setting.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4327525"/>
            <a:ext cx="7143750" cy="876300"/>
            <a:chOff x="0" y="0"/>
            <a:chExt cx="9525000" cy="1168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525000" cy="1168400"/>
            </a:xfrm>
            <a:custGeom>
              <a:avLst/>
              <a:gdLst/>
              <a:ahLst/>
              <a:cxnLst/>
              <a:rect l="l" t="t" r="r" b="b"/>
              <a:pathLst>
                <a:path w="9525000" h="1168400">
                  <a:moveTo>
                    <a:pt x="177800" y="0"/>
                  </a:moveTo>
                  <a:lnTo>
                    <a:pt x="9347200" y="0"/>
                  </a:lnTo>
                  <a:cubicBezTo>
                    <a:pt x="9445396" y="0"/>
                    <a:pt x="9525000" y="79604"/>
                    <a:pt x="9525000" y="177800"/>
                  </a:cubicBezTo>
                  <a:lnTo>
                    <a:pt x="9525000" y="990600"/>
                  </a:lnTo>
                  <a:cubicBezTo>
                    <a:pt x="9525000" y="1088796"/>
                    <a:pt x="9445396" y="1168400"/>
                    <a:pt x="9347200" y="1168400"/>
                  </a:cubicBezTo>
                  <a:lnTo>
                    <a:pt x="177800" y="1168400"/>
                  </a:lnTo>
                  <a:cubicBezTo>
                    <a:pt x="79604" y="1168400"/>
                    <a:pt x="0" y="1088796"/>
                    <a:pt x="0" y="9906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4F7FB"/>
            </a:solidFill>
            <a:ln w="9525" cap="sq">
              <a:solidFill>
                <a:srgbClr val="DCE5EF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525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43000" y="4451350"/>
            <a:ext cx="668655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B1F3A"/>
                </a:solidFill>
                <a:latin typeface="Garet Bold"/>
                <a:ea typeface="Garet Bold"/>
                <a:cs typeface="Garet Bold"/>
                <a:sym typeface="Garet Bold"/>
              </a:rPr>
              <a:t>Lablab AI Infra Summit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000" y="4803775"/>
            <a:ext cx="6686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5B6B7A"/>
                </a:solidFill>
                <a:latin typeface="Garet Bold"/>
                <a:ea typeface="Garet Bold"/>
                <a:cs typeface="Garet Bold"/>
                <a:sym typeface="Garet Bold"/>
              </a:rPr>
              <a:t>Online Track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5489575"/>
            <a:ext cx="714375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B1F3A"/>
                </a:solidFill>
                <a:latin typeface="Garet Bold"/>
                <a:ea typeface="Garet Bold"/>
                <a:cs typeface="Garet Bold"/>
                <a:sym typeface="Garet Bold"/>
              </a:rPr>
              <a:t>Team </a:t>
            </a:r>
            <a:r>
              <a:rPr lang="en-US" sz="2000" b="1" dirty="0" err="1">
                <a:solidFill>
                  <a:srgbClr val="0B1F3A"/>
                </a:solidFill>
                <a:latin typeface="Garet Bold"/>
                <a:ea typeface="Garet Bold"/>
                <a:cs typeface="Garet Bold"/>
                <a:sym typeface="Garet Bold"/>
              </a:rPr>
              <a:t>TableGuard</a:t>
            </a:r>
            <a:r>
              <a:rPr lang="en-US" sz="2000" b="1" dirty="0">
                <a:solidFill>
                  <a:srgbClr val="0B1F3A"/>
                </a:solidFill>
                <a:latin typeface="Garet Bold"/>
                <a:ea typeface="Garet Bold"/>
                <a:cs typeface="Garet Bold"/>
                <a:sym typeface="Garet Bold"/>
              </a:rPr>
              <a:t>-Lite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" y="5889625"/>
            <a:ext cx="7143750" cy="9525"/>
            <a:chOff x="0" y="0"/>
            <a:chExt cx="9525000" cy="12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525000" cy="12700"/>
            </a:xfrm>
            <a:custGeom>
              <a:avLst/>
              <a:gdLst/>
              <a:ahLst/>
              <a:cxnLst/>
              <a:rect l="l" t="t" r="r" b="b"/>
              <a:pathLst>
                <a:path w="9525000" h="12700">
                  <a:moveTo>
                    <a:pt x="0" y="0"/>
                  </a:moveTo>
                  <a:lnTo>
                    <a:pt x="9525000" y="0"/>
                  </a:lnTo>
                  <a:lnTo>
                    <a:pt x="9525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CE5EF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95250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896178" y="6714834"/>
            <a:ext cx="2381250" cy="28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dirty="0" err="1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Syeda</a:t>
            </a:r>
            <a:r>
              <a:rPr lang="en-US" sz="1700" b="1" dirty="0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1700" b="1" dirty="0" err="1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Fizza</a:t>
            </a:r>
            <a:r>
              <a:rPr lang="en-US" sz="1700" b="1" dirty="0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 Rubab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90900" y="6740028"/>
            <a:ext cx="28575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dirty="0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PhD Student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98249" y="7119936"/>
            <a:ext cx="23812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dirty="0" err="1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Saira</a:t>
            </a:r>
            <a:r>
              <a:rPr lang="en-US" sz="1700" b="1" dirty="0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 Asghar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390900" y="7105779"/>
            <a:ext cx="28575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dirty="0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AI Engineer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4339" y="7515569"/>
            <a:ext cx="23812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dirty="0">
                <a:solidFill>
                  <a:srgbClr val="26313D"/>
                </a:solidFill>
                <a:latin typeface="Garet Bold"/>
                <a:ea typeface="Garet Bold"/>
                <a:cs typeface="Garet Bold"/>
                <a:sym typeface="Garet Bold"/>
              </a:rPr>
              <a:t>Rana Zain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394627" y="7493635"/>
            <a:ext cx="28575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dirty="0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AI/ML Engineer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914400" y="8477250"/>
            <a:ext cx="7143750" cy="590550"/>
            <a:chOff x="0" y="0"/>
            <a:chExt cx="9525000" cy="787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525000" cy="787400"/>
            </a:xfrm>
            <a:custGeom>
              <a:avLst/>
              <a:gdLst/>
              <a:ahLst/>
              <a:cxnLst/>
              <a:rect l="l" t="t" r="r" b="b"/>
              <a:pathLst>
                <a:path w="9525000" h="787400">
                  <a:moveTo>
                    <a:pt x="152400" y="0"/>
                  </a:moveTo>
                  <a:lnTo>
                    <a:pt x="9372600" y="0"/>
                  </a:lnTo>
                  <a:cubicBezTo>
                    <a:pt x="9456769" y="0"/>
                    <a:pt x="9525000" y="68232"/>
                    <a:pt x="9525000" y="152400"/>
                  </a:cubicBezTo>
                  <a:lnTo>
                    <a:pt x="9525000" y="635000"/>
                  </a:lnTo>
                  <a:cubicBezTo>
                    <a:pt x="9525000" y="719168"/>
                    <a:pt x="9456769" y="787400"/>
                    <a:pt x="9372600" y="787400"/>
                  </a:cubicBezTo>
                  <a:lnTo>
                    <a:pt x="152400" y="787400"/>
                  </a:lnTo>
                  <a:cubicBezTo>
                    <a:pt x="68232" y="787400"/>
                    <a:pt x="0" y="719168"/>
                    <a:pt x="0" y="635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9525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23950" y="8620125"/>
            <a:ext cx="6724650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 spc="37" dirty="0" err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MuJoCo</a:t>
            </a:r>
            <a:r>
              <a:rPr lang="en-US" sz="1899" b="1" spc="37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• SO-101 • VLA • Intel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2064" y="552085"/>
            <a:ext cx="1076553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814" b="1" dirty="0">
                <a:solidFill>
                  <a:srgbClr val="00154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</a:t>
            </a:r>
            <a:r>
              <a:rPr lang="en-US" sz="2814" b="1" dirty="0">
                <a:solidFill>
                  <a:srgbClr val="001547"/>
                </a:solidFill>
                <a:latin typeface="Arial Black" panose="020B0A04020102020204" pitchFamily="34" charset="0"/>
                <a:ea typeface="Montserrat Bold"/>
                <a:cs typeface="Montserrat Bold"/>
                <a:sym typeface="Montserrat Bold"/>
              </a:rPr>
              <a:t>Problem</a:t>
            </a:r>
            <a:r>
              <a:rPr lang="en-US" sz="2814" b="1" dirty="0">
                <a:solidFill>
                  <a:srgbClr val="00154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Safe, Verifiable, Goal-Preserving Execution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616060" y="1229556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7559" t="-49298" r="-186689" b="-34495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2064" y="2169006"/>
            <a:ext cx="6473952" cy="61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2224">
                <a:solidFill>
                  <a:srgbClr val="001547"/>
                </a:solidFill>
                <a:latin typeface="DM Sans"/>
                <a:ea typeface="DM Sans"/>
                <a:cs typeface="DM Sans"/>
                <a:sym typeface="DM Sans"/>
              </a:rPr>
              <a:t>Multi-modal policies can generate table-setting actions, but bimmanual execution remains fragile.</a:t>
            </a:r>
          </a:p>
        </p:txBody>
      </p:sp>
      <p:sp>
        <p:nvSpPr>
          <p:cNvPr id="6" name="Freeform 6"/>
          <p:cNvSpPr/>
          <p:nvPr/>
        </p:nvSpPr>
        <p:spPr>
          <a:xfrm>
            <a:off x="428625" y="3209925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40080" y="3452164"/>
            <a:ext cx="457200" cy="34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24000" y="3147293"/>
            <a:ext cx="1065837" cy="1016424"/>
            <a:chOff x="0" y="0"/>
            <a:chExt cx="1421115" cy="135523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421115" cy="1355232"/>
              <a:chOff x="0" y="0"/>
              <a:chExt cx="1155700" cy="110212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55700" cy="1102121"/>
              </a:xfrm>
              <a:custGeom>
                <a:avLst/>
                <a:gdLst/>
                <a:ahLst/>
                <a:cxnLst/>
                <a:rect l="l" t="t" r="r" b="b"/>
                <a:pathLst>
                  <a:path w="1155700" h="1102121">
                    <a:moveTo>
                      <a:pt x="0" y="551061"/>
                    </a:moveTo>
                    <a:cubicBezTo>
                      <a:pt x="0" y="855403"/>
                      <a:pt x="258712" y="1102121"/>
                      <a:pt x="577850" y="1102121"/>
                    </a:cubicBezTo>
                    <a:cubicBezTo>
                      <a:pt x="896988" y="1102121"/>
                      <a:pt x="1155700" y="855403"/>
                      <a:pt x="1155700" y="551061"/>
                    </a:cubicBezTo>
                    <a:cubicBezTo>
                      <a:pt x="1155700" y="246718"/>
                      <a:pt x="896988" y="0"/>
                      <a:pt x="577850" y="0"/>
                    </a:cubicBezTo>
                    <a:cubicBezTo>
                      <a:pt x="258712" y="0"/>
                      <a:pt x="0" y="246718"/>
                      <a:pt x="0" y="551061"/>
                    </a:cubicBezTo>
                    <a:close/>
                  </a:path>
                </a:pathLst>
              </a:custGeom>
              <a:solidFill>
                <a:srgbClr val="F1F2F5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155700" cy="11402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62822" y="283347"/>
              <a:ext cx="1095471" cy="826663"/>
            </a:xfrm>
            <a:custGeom>
              <a:avLst/>
              <a:gdLst/>
              <a:ahLst/>
              <a:cxnLst/>
              <a:rect l="l" t="t" r="r" b="b"/>
              <a:pathLst>
                <a:path w="1095471" h="826663">
                  <a:moveTo>
                    <a:pt x="0" y="0"/>
                  </a:moveTo>
                  <a:lnTo>
                    <a:pt x="1095471" y="0"/>
                  </a:lnTo>
                  <a:lnTo>
                    <a:pt x="1095471" y="826663"/>
                  </a:lnTo>
                  <a:lnTo>
                    <a:pt x="0" y="826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57" t="-12946" b="-12946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072384" y="3251073"/>
            <a:ext cx="219456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b="1">
                <a:solidFill>
                  <a:srgbClr val="00154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Cascading failures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72384" y="3665029"/>
            <a:ext cx="427939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001547"/>
                </a:solidFill>
                <a:latin typeface="DM Sans"/>
                <a:ea typeface="DM Sans"/>
                <a:cs typeface="DM Sans"/>
                <a:sym typeface="DM Sans"/>
              </a:rPr>
              <a:t>Unsafe recovery can fix a tilted cup while disturbing an aligned plate or fork.</a:t>
            </a:r>
          </a:p>
        </p:txBody>
      </p:sp>
      <p:sp>
        <p:nvSpPr>
          <p:cNvPr id="15" name="Freeform 15"/>
          <p:cNvSpPr/>
          <p:nvPr/>
        </p:nvSpPr>
        <p:spPr>
          <a:xfrm>
            <a:off x="428625" y="4714875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40080" y="5005501"/>
            <a:ext cx="457200" cy="34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24000" y="471487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072384" y="4845558"/>
            <a:ext cx="2205990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b="1" dirty="0">
                <a:solidFill>
                  <a:srgbClr val="00154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Blind execution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72384" y="5258753"/>
            <a:ext cx="4352544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001547"/>
                </a:solidFill>
                <a:latin typeface="DM Sans"/>
                <a:ea typeface="DM Sans"/>
                <a:cs typeface="DM Sans"/>
                <a:sym typeface="DM Sans"/>
              </a:rPr>
              <a:t>Oclusions or stale video frames &gt;10 s can cause the policy to act without reliable perception.</a:t>
            </a:r>
          </a:p>
        </p:txBody>
      </p:sp>
      <p:sp>
        <p:nvSpPr>
          <p:cNvPr id="20" name="Freeform 20"/>
          <p:cNvSpPr/>
          <p:nvPr/>
        </p:nvSpPr>
        <p:spPr>
          <a:xfrm>
            <a:off x="428625" y="642937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40080" y="6599986"/>
            <a:ext cx="457200" cy="34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24000" y="6210300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072384" y="6450330"/>
            <a:ext cx="261518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b="1">
                <a:solidFill>
                  <a:srgbClr val="00154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Unverifiable decisions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72384" y="6874574"/>
            <a:ext cx="471830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001547"/>
                </a:solidFill>
                <a:latin typeface="DM Sans"/>
                <a:ea typeface="DM Sans"/>
                <a:cs typeface="DM Sans"/>
                <a:sym typeface="DM Sans"/>
              </a:rPr>
              <a:t>Black-box outputs lack formal runtime states and bounded recovery behavior.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28625" y="7715250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640080" y="8019592"/>
            <a:ext cx="457200" cy="34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92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24000" y="7715250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072384" y="7869936"/>
            <a:ext cx="153619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62" b="1">
                <a:solidFill>
                  <a:srgbClr val="00154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Edge latency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72384" y="8294179"/>
            <a:ext cx="482803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001547"/>
                </a:solidFill>
                <a:latin typeface="DM Sans"/>
                <a:ea typeface="DM Sans"/>
                <a:cs typeface="DM Sans"/>
                <a:sym typeface="DM Sans"/>
              </a:rPr>
              <a:t>Heavy multi-modal models struggle to sustain 20 Hz control (&gt;50 ms) on edge hardware.</a:t>
            </a:r>
          </a:p>
        </p:txBody>
      </p:sp>
      <p:sp>
        <p:nvSpPr>
          <p:cNvPr id="30" name="Freeform 30"/>
          <p:cNvSpPr/>
          <p:nvPr/>
        </p:nvSpPr>
        <p:spPr>
          <a:xfrm>
            <a:off x="9791700" y="857250"/>
            <a:ext cx="8067675" cy="7934325"/>
          </a:xfrm>
          <a:custGeom>
            <a:avLst/>
            <a:gdLst/>
            <a:ahLst/>
            <a:cxnLst/>
            <a:rect l="l" t="t" r="r" b="b"/>
            <a:pathLst>
              <a:path w="8067675" h="7934325">
                <a:moveTo>
                  <a:pt x="0" y="0"/>
                </a:moveTo>
                <a:lnTo>
                  <a:pt x="8067675" y="0"/>
                </a:lnTo>
                <a:lnTo>
                  <a:pt x="8067675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09550" y="9001125"/>
            <a:ext cx="11982450" cy="1285875"/>
          </a:xfrm>
          <a:custGeom>
            <a:avLst/>
            <a:gdLst/>
            <a:ahLst/>
            <a:cxnLst/>
            <a:rect l="l" t="t" r="r" b="b"/>
            <a:pathLst>
              <a:path w="11982450" h="1285875">
                <a:moveTo>
                  <a:pt x="0" y="0"/>
                </a:moveTo>
                <a:lnTo>
                  <a:pt x="11982450" y="0"/>
                </a:lnTo>
                <a:lnTo>
                  <a:pt x="11982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428625" y="9001125"/>
            <a:ext cx="1095375" cy="1285875"/>
          </a:xfrm>
          <a:custGeom>
            <a:avLst/>
            <a:gdLst/>
            <a:ahLst/>
            <a:cxnLst/>
            <a:rect l="l" t="t" r="r" b="b"/>
            <a:pathLst>
              <a:path w="1095375" h="12858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24000" y="9210675"/>
            <a:ext cx="219075" cy="866775"/>
          </a:xfrm>
          <a:custGeom>
            <a:avLst/>
            <a:gdLst/>
            <a:ahLst/>
            <a:cxnLst/>
            <a:rect l="l" t="t" r="r" b="b"/>
            <a:pathLst>
              <a:path w="219075" h="866775">
                <a:moveTo>
                  <a:pt x="0" y="0"/>
                </a:moveTo>
                <a:lnTo>
                  <a:pt x="219075" y="0"/>
                </a:lnTo>
                <a:lnTo>
                  <a:pt x="2190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975104" y="9390159"/>
            <a:ext cx="9070848" cy="54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9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system must preserve completed goals, HOLD when perception is uncertain, bound repairs to &lt;2 attempts, and meet the real-time control budget.</a:t>
            </a:r>
          </a:p>
        </p:txBody>
      </p:sp>
      <p:sp>
        <p:nvSpPr>
          <p:cNvPr id="35" name="Freeform 35"/>
          <p:cNvSpPr/>
          <p:nvPr/>
        </p:nvSpPr>
        <p:spPr>
          <a:xfrm>
            <a:off x="16973550" y="428625"/>
            <a:ext cx="1104900" cy="428625"/>
          </a:xfrm>
          <a:custGeom>
            <a:avLst/>
            <a:gdLst/>
            <a:ahLst/>
            <a:cxnLst/>
            <a:rect l="l" t="t" r="r" b="b"/>
            <a:pathLst>
              <a:path w="1104900" h="428625">
                <a:moveTo>
                  <a:pt x="0" y="0"/>
                </a:moveTo>
                <a:lnTo>
                  <a:pt x="1104900" y="0"/>
                </a:lnTo>
                <a:lnTo>
                  <a:pt x="11049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16878300" cy="547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51838"/>
                </a:solidFill>
                <a:latin typeface="Arial Black" panose="020B0A04020102020204" pitchFamily="34" charset="0"/>
                <a:ea typeface="Inter Bold"/>
                <a:cs typeface="Inter Bold"/>
                <a:sym typeface="Inter Bold"/>
              </a:rPr>
              <a:t>The Solution — </a:t>
            </a:r>
            <a:r>
              <a:rPr lang="en-US" sz="3200" b="1" dirty="0" err="1">
                <a:solidFill>
                  <a:srgbClr val="051838"/>
                </a:solidFill>
                <a:latin typeface="Arial Black" panose="020B0A04020102020204" pitchFamily="34" charset="0"/>
                <a:ea typeface="Inter Bold"/>
                <a:cs typeface="Inter Bold"/>
                <a:sym typeface="Inter Bold"/>
              </a:rPr>
              <a:t>TableGuard</a:t>
            </a:r>
            <a:r>
              <a:rPr lang="en-US" sz="3200" b="1" dirty="0">
                <a:solidFill>
                  <a:srgbClr val="051838"/>
                </a:solidFill>
                <a:latin typeface="Arial Black" panose="020B0A04020102020204" pitchFamily="34" charset="0"/>
                <a:ea typeface="Inter Bold"/>
                <a:cs typeface="Inter Bold"/>
                <a:sym typeface="Inter Bold"/>
              </a:rPr>
              <a:t>-Lite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5300" y="1221466"/>
            <a:ext cx="17297400" cy="290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52708F"/>
                </a:solidFill>
                <a:latin typeface="Inter"/>
                <a:ea typeface="Inter"/>
                <a:cs typeface="Inter"/>
                <a:sym typeface="Inter"/>
              </a:rPr>
              <a:t>Resilient Dual-Arm Safety Supervision with Real-Time Edge Acceleration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95300" y="2082800"/>
            <a:ext cx="17297400" cy="8039100"/>
            <a:chOff x="0" y="0"/>
            <a:chExt cx="23063200" cy="107188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3063200" cy="1422400"/>
              <a:chOff x="0" y="0"/>
              <a:chExt cx="23063200" cy="1422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3063200" cy="1422400"/>
              </a:xfrm>
              <a:custGeom>
                <a:avLst/>
                <a:gdLst/>
                <a:ahLst/>
                <a:cxnLst/>
                <a:rect l="l" t="t" r="r" b="b"/>
                <a:pathLst>
                  <a:path w="23063200" h="1422400">
                    <a:moveTo>
                      <a:pt x="177800" y="0"/>
                    </a:moveTo>
                    <a:lnTo>
                      <a:pt x="22885400" y="0"/>
                    </a:lnTo>
                    <a:cubicBezTo>
                      <a:pt x="22983596" y="0"/>
                      <a:pt x="23063200" y="79604"/>
                      <a:pt x="23063200" y="177800"/>
                    </a:cubicBezTo>
                    <a:lnTo>
                      <a:pt x="23063200" y="1244600"/>
                    </a:lnTo>
                    <a:cubicBezTo>
                      <a:pt x="23063200" y="1342796"/>
                      <a:pt x="22983596" y="1422400"/>
                      <a:pt x="22885400" y="1422400"/>
                    </a:cubicBezTo>
                    <a:lnTo>
                      <a:pt x="177800" y="1422400"/>
                    </a:lnTo>
                    <a:cubicBezTo>
                      <a:pt x="79604" y="1422400"/>
                      <a:pt x="0" y="1342796"/>
                      <a:pt x="0" y="124460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EAF3FF"/>
              </a:solidFill>
              <a:ln w="9525" cap="sq">
                <a:solidFill>
                  <a:srgbClr val="CFE1F5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3063200" cy="146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30200" y="187325"/>
              <a:ext cx="6350000" cy="245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 b="1" spc="88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CORE VALUE PROPOSITION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0200" y="514350"/>
              <a:ext cx="22352000" cy="6777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 dirty="0" err="1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TableGuard</a:t>
              </a:r>
              <a:r>
                <a:rPr lang="en-US" sz="1599" dirty="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-Lite introduces a deterministic runtime supervisor that eliminates cascading manipulation failures,</a:t>
              </a:r>
            </a:p>
            <a:p>
              <a:pPr algn="l">
                <a:lnSpc>
                  <a:spcPts val="2079"/>
                </a:lnSpc>
              </a:pPr>
              <a:r>
                <a:rPr lang="en-US" sz="1599" dirty="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enforces safe fail-stops during perceptual glitches, and runs in real-time on Intel edge silicon.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1803400"/>
              <a:ext cx="11277600" cy="4254500"/>
              <a:chOff x="0" y="0"/>
              <a:chExt cx="11277600" cy="4254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277600" cy="4254500"/>
              </a:xfrm>
              <a:custGeom>
                <a:avLst/>
                <a:gdLst/>
                <a:ahLst/>
                <a:cxnLst/>
                <a:rect l="l" t="t" r="r" b="b"/>
                <a:pathLst>
                  <a:path w="11277600" h="4254500">
                    <a:moveTo>
                      <a:pt x="228600" y="0"/>
                    </a:moveTo>
                    <a:lnTo>
                      <a:pt x="11049000" y="0"/>
                    </a:lnTo>
                    <a:cubicBezTo>
                      <a:pt x="11175252" y="0"/>
                      <a:pt x="11277600" y="102348"/>
                      <a:pt x="11277600" y="228600"/>
                    </a:cubicBezTo>
                    <a:lnTo>
                      <a:pt x="11277600" y="4025900"/>
                    </a:lnTo>
                    <a:cubicBezTo>
                      <a:pt x="11277600" y="4152152"/>
                      <a:pt x="11175252" y="4254500"/>
                      <a:pt x="11049000" y="4254500"/>
                    </a:cubicBezTo>
                    <a:lnTo>
                      <a:pt x="228600" y="4254500"/>
                    </a:lnTo>
                    <a:cubicBezTo>
                      <a:pt x="102348" y="4254500"/>
                      <a:pt x="0" y="4152152"/>
                      <a:pt x="0" y="402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4F8FD"/>
              </a:solidFill>
              <a:ln w="14288" cap="sq">
                <a:solidFill>
                  <a:srgbClr val="D9E5F2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1277600" cy="429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55600" y="2159000"/>
              <a:ext cx="609600" cy="609600"/>
              <a:chOff x="0" y="0"/>
              <a:chExt cx="6096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304800"/>
                    </a:moveTo>
                    <a:cubicBezTo>
                      <a:pt x="0" y="473136"/>
                      <a:pt x="136464" y="609600"/>
                      <a:pt x="304800" y="609600"/>
                    </a:cubicBezTo>
                    <a:cubicBezTo>
                      <a:pt x="473136" y="609600"/>
                      <a:pt x="609600" y="473136"/>
                      <a:pt x="609600" y="304800"/>
                    </a:cubicBezTo>
                    <a:cubicBezTo>
                      <a:pt x="609600" y="136464"/>
                      <a:pt x="473136" y="0"/>
                      <a:pt x="304800" y="0"/>
                    </a:cubicBezTo>
                    <a:cubicBezTo>
                      <a:pt x="136464" y="0"/>
                      <a:pt x="0" y="136464"/>
                      <a:pt x="0" y="304800"/>
                    </a:cubicBezTo>
                    <a:close/>
                  </a:path>
                </a:pathLst>
              </a:custGeom>
              <a:solidFill>
                <a:srgbClr val="0069F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1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168400" y="2244725"/>
              <a:ext cx="9753600" cy="412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52"/>
                </a:lnSpc>
              </a:pPr>
              <a:r>
                <a:rPr lang="en-US" sz="2100" b="1">
                  <a:solidFill>
                    <a:srgbClr val="05183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Deterministic State Machine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355600" y="3048000"/>
              <a:ext cx="5461000" cy="431800"/>
              <a:chOff x="0" y="0"/>
              <a:chExt cx="5461000" cy="431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4610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431800">
                    <a:moveTo>
                      <a:pt x="101600" y="0"/>
                    </a:moveTo>
                    <a:lnTo>
                      <a:pt x="5359400" y="0"/>
                    </a:lnTo>
                    <a:cubicBezTo>
                      <a:pt x="5415512" y="0"/>
                      <a:pt x="5461000" y="45488"/>
                      <a:pt x="5461000" y="101600"/>
                    </a:cubicBezTo>
                    <a:lnTo>
                      <a:pt x="5461000" y="330200"/>
                    </a:lnTo>
                    <a:cubicBezTo>
                      <a:pt x="5461000" y="386312"/>
                      <a:pt x="5415512" y="431800"/>
                      <a:pt x="5359400" y="431800"/>
                    </a:cubicBezTo>
                    <a:lnTo>
                      <a:pt x="101600" y="431800"/>
                    </a:lnTo>
                    <a:cubicBezTo>
                      <a:pt x="45488" y="431800"/>
                      <a:pt x="0" y="386312"/>
                      <a:pt x="0" y="330200"/>
                    </a:cubicBezTo>
                    <a:lnTo>
                      <a:pt x="0" y="101600"/>
                    </a:ln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solidFill>
                <a:srgbClr val="EAF3F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5461000" cy="4603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79"/>
                  </a:lnSpc>
                </a:pPr>
                <a:r>
                  <a:rPr lang="en-US" sz="1200" b="1">
                    <a:solidFill>
                      <a:srgbClr val="0069F4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CONTINUE / HOLD / REPAIR / STOP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55600" y="3683000"/>
              <a:ext cx="10566400" cy="732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Evaluates sub-goal satisfaction at every 20 Hz control step. Replaces blind heuristic guessing with bounded, mathematical transitions.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55600" y="5321300"/>
              <a:ext cx="3175000" cy="406400"/>
              <a:chOff x="0" y="0"/>
              <a:chExt cx="3175000" cy="406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1750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175000" h="406400">
                    <a:moveTo>
                      <a:pt x="203200" y="0"/>
                    </a:moveTo>
                    <a:lnTo>
                      <a:pt x="2971800" y="0"/>
                    </a:lnTo>
                    <a:cubicBezTo>
                      <a:pt x="3084024" y="0"/>
                      <a:pt x="3175000" y="90976"/>
                      <a:pt x="3175000" y="203200"/>
                    </a:cubicBezTo>
                    <a:cubicBezTo>
                      <a:pt x="3175000" y="315424"/>
                      <a:pt x="3084024" y="406400"/>
                      <a:pt x="29718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FE1F5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3175000" cy="4349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0069F4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Stops cascading failures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1785600" y="1803400"/>
              <a:ext cx="11277600" cy="4254500"/>
              <a:chOff x="0" y="0"/>
              <a:chExt cx="11277600" cy="4254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277600" cy="4254500"/>
              </a:xfrm>
              <a:custGeom>
                <a:avLst/>
                <a:gdLst/>
                <a:ahLst/>
                <a:cxnLst/>
                <a:rect l="l" t="t" r="r" b="b"/>
                <a:pathLst>
                  <a:path w="11277600" h="4254500">
                    <a:moveTo>
                      <a:pt x="228600" y="0"/>
                    </a:moveTo>
                    <a:lnTo>
                      <a:pt x="11049000" y="0"/>
                    </a:lnTo>
                    <a:cubicBezTo>
                      <a:pt x="11175252" y="0"/>
                      <a:pt x="11277600" y="102348"/>
                      <a:pt x="11277600" y="228600"/>
                    </a:cubicBezTo>
                    <a:lnTo>
                      <a:pt x="11277600" y="4025900"/>
                    </a:lnTo>
                    <a:cubicBezTo>
                      <a:pt x="11277600" y="4152152"/>
                      <a:pt x="11175252" y="4254500"/>
                      <a:pt x="11049000" y="4254500"/>
                    </a:cubicBezTo>
                    <a:lnTo>
                      <a:pt x="228600" y="4254500"/>
                    </a:lnTo>
                    <a:cubicBezTo>
                      <a:pt x="102348" y="4254500"/>
                      <a:pt x="0" y="4152152"/>
                      <a:pt x="0" y="402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4F8FD"/>
              </a:solidFill>
              <a:ln w="14288" cap="sq">
                <a:solidFill>
                  <a:srgbClr val="D9E5F2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277600" cy="429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2141200" y="2159000"/>
              <a:ext cx="609600" cy="609600"/>
              <a:chOff x="0" y="0"/>
              <a:chExt cx="609600" cy="6096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304800"/>
                    </a:moveTo>
                    <a:cubicBezTo>
                      <a:pt x="0" y="473136"/>
                      <a:pt x="136464" y="609600"/>
                      <a:pt x="304800" y="609600"/>
                    </a:cubicBezTo>
                    <a:cubicBezTo>
                      <a:pt x="473136" y="609600"/>
                      <a:pt x="609600" y="473136"/>
                      <a:pt x="609600" y="304800"/>
                    </a:cubicBezTo>
                    <a:cubicBezTo>
                      <a:pt x="609600" y="136464"/>
                      <a:pt x="473136" y="0"/>
                      <a:pt x="304800" y="0"/>
                    </a:cubicBezTo>
                    <a:cubicBezTo>
                      <a:pt x="136464" y="0"/>
                      <a:pt x="0" y="136464"/>
                      <a:pt x="0" y="304800"/>
                    </a:cubicBezTo>
                    <a:close/>
                  </a:path>
                </a:pathLst>
              </a:custGeom>
              <a:solidFill>
                <a:srgbClr val="0069F4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2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2954000" y="2244725"/>
              <a:ext cx="9753600" cy="412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52"/>
                </a:lnSpc>
              </a:pPr>
              <a:r>
                <a:rPr lang="en-US" sz="2100" b="1">
                  <a:solidFill>
                    <a:srgbClr val="05183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 Goal Preservation Guarantee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41200" y="2965450"/>
              <a:ext cx="1905000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1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109700" y="3133725"/>
              <a:ext cx="2794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52708F"/>
                  </a:solidFill>
                  <a:latin typeface="Inter"/>
                  <a:ea typeface="Inter"/>
                  <a:cs typeface="Inter"/>
                  <a:sym typeface="Inter"/>
                </a:rPr>
                <a:t>goal integrity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41200" y="3683000"/>
              <a:ext cx="10566400" cy="732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Strictly isolates repairs to defective tableware without disturbing settled items. Eliminates cascading collisions and tableware spills.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2141200" y="5321300"/>
              <a:ext cx="3175000" cy="406400"/>
              <a:chOff x="0" y="0"/>
              <a:chExt cx="3175000" cy="406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31750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175000" h="406400">
                    <a:moveTo>
                      <a:pt x="203200" y="0"/>
                    </a:moveTo>
                    <a:lnTo>
                      <a:pt x="2971800" y="0"/>
                    </a:lnTo>
                    <a:cubicBezTo>
                      <a:pt x="3084024" y="0"/>
                      <a:pt x="3175000" y="90976"/>
                      <a:pt x="3175000" y="203200"/>
                    </a:cubicBezTo>
                    <a:cubicBezTo>
                      <a:pt x="3175000" y="315424"/>
                      <a:pt x="3084024" y="406400"/>
                      <a:pt x="29718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FE1F5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28575"/>
                <a:ext cx="3175000" cy="4349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0069F4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Protects settled goals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6464300"/>
              <a:ext cx="11277600" cy="4254500"/>
              <a:chOff x="0" y="0"/>
              <a:chExt cx="11277600" cy="4254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277600" cy="4254500"/>
              </a:xfrm>
              <a:custGeom>
                <a:avLst/>
                <a:gdLst/>
                <a:ahLst/>
                <a:cxnLst/>
                <a:rect l="l" t="t" r="r" b="b"/>
                <a:pathLst>
                  <a:path w="11277600" h="4254500">
                    <a:moveTo>
                      <a:pt x="228600" y="0"/>
                    </a:moveTo>
                    <a:lnTo>
                      <a:pt x="11049000" y="0"/>
                    </a:lnTo>
                    <a:cubicBezTo>
                      <a:pt x="11175252" y="0"/>
                      <a:pt x="11277600" y="102348"/>
                      <a:pt x="11277600" y="228600"/>
                    </a:cubicBezTo>
                    <a:lnTo>
                      <a:pt x="11277600" y="4025900"/>
                    </a:lnTo>
                    <a:cubicBezTo>
                      <a:pt x="11277600" y="4152152"/>
                      <a:pt x="11175252" y="4254500"/>
                      <a:pt x="11049000" y="4254500"/>
                    </a:cubicBezTo>
                    <a:lnTo>
                      <a:pt x="228600" y="4254500"/>
                    </a:lnTo>
                    <a:cubicBezTo>
                      <a:pt x="102348" y="4254500"/>
                      <a:pt x="0" y="4152152"/>
                      <a:pt x="0" y="402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4F8FD"/>
              </a:solidFill>
              <a:ln w="14288" cap="sq">
                <a:solidFill>
                  <a:srgbClr val="D9E5F2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1277600" cy="429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55600" y="6819900"/>
              <a:ext cx="609600" cy="609600"/>
              <a:chOff x="0" y="0"/>
              <a:chExt cx="609600" cy="609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304800"/>
                    </a:moveTo>
                    <a:cubicBezTo>
                      <a:pt x="0" y="473136"/>
                      <a:pt x="136464" y="609600"/>
                      <a:pt x="304800" y="609600"/>
                    </a:cubicBezTo>
                    <a:cubicBezTo>
                      <a:pt x="473136" y="609600"/>
                      <a:pt x="609600" y="473136"/>
                      <a:pt x="609600" y="304800"/>
                    </a:cubicBezTo>
                    <a:cubicBezTo>
                      <a:pt x="609600" y="136464"/>
                      <a:pt x="473136" y="0"/>
                      <a:pt x="304800" y="0"/>
                    </a:cubicBezTo>
                    <a:cubicBezTo>
                      <a:pt x="136464" y="0"/>
                      <a:pt x="0" y="136464"/>
                      <a:pt x="0" y="304800"/>
                    </a:cubicBezTo>
                    <a:close/>
                  </a:path>
                </a:pathLst>
              </a:custGeom>
              <a:solidFill>
                <a:srgbClr val="0069F4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3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168400" y="6905625"/>
              <a:ext cx="9753600" cy="412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52"/>
                </a:lnSpc>
              </a:pPr>
              <a:r>
                <a:rPr lang="en-US" sz="2100" b="1">
                  <a:solidFill>
                    <a:srgbClr val="05183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Safe HOLD During Perception Glitches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355600" y="7708900"/>
              <a:ext cx="2794000" cy="431800"/>
              <a:chOff x="0" y="0"/>
              <a:chExt cx="2794000" cy="431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7940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2794000" h="431800">
                    <a:moveTo>
                      <a:pt x="101600" y="0"/>
                    </a:moveTo>
                    <a:lnTo>
                      <a:pt x="2692400" y="0"/>
                    </a:lnTo>
                    <a:cubicBezTo>
                      <a:pt x="2748512" y="0"/>
                      <a:pt x="2794000" y="45488"/>
                      <a:pt x="2794000" y="101600"/>
                    </a:cubicBezTo>
                    <a:lnTo>
                      <a:pt x="2794000" y="330200"/>
                    </a:lnTo>
                    <a:cubicBezTo>
                      <a:pt x="2794000" y="386312"/>
                      <a:pt x="2748512" y="431800"/>
                      <a:pt x="2692400" y="431800"/>
                    </a:cubicBezTo>
                    <a:lnTo>
                      <a:pt x="101600" y="431800"/>
                    </a:lnTo>
                    <a:cubicBezTo>
                      <a:pt x="45488" y="431800"/>
                      <a:pt x="0" y="386312"/>
                      <a:pt x="0" y="330200"/>
                    </a:cubicBezTo>
                    <a:lnTo>
                      <a:pt x="0" y="101600"/>
                    </a:ln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solidFill>
                <a:srgbClr val="EAF3FF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28575"/>
                <a:ext cx="2794000" cy="4603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79"/>
                  </a:lnSpc>
                </a:pPr>
                <a:r>
                  <a:rPr lang="en-US" sz="1200" b="1">
                    <a:solidFill>
                      <a:srgbClr val="0069F4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No Fake Execution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55600" y="8343900"/>
              <a:ext cx="10566400" cy="732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Automatically executes a safe </a:t>
              </a:r>
              <a:r>
                <a:rPr lang="en-US" sz="1650" b="1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HOLD</a:t>
              </a:r>
              <a:r>
                <a:rPr lang="en-US" sz="165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 when the gripper occludes the camera or frames drop (</a:t>
              </a:r>
              <a:r>
                <a:rPr lang="en-US" sz="1650" b="1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&gt; 1.0s</a:t>
              </a:r>
              <a:r>
                <a:rPr lang="en-US" sz="165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355600" y="9982200"/>
              <a:ext cx="3175000" cy="406400"/>
              <a:chOff x="0" y="0"/>
              <a:chExt cx="3175000" cy="4064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31750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3175000" h="406400">
                    <a:moveTo>
                      <a:pt x="203200" y="0"/>
                    </a:moveTo>
                    <a:lnTo>
                      <a:pt x="2971800" y="0"/>
                    </a:lnTo>
                    <a:cubicBezTo>
                      <a:pt x="3084024" y="0"/>
                      <a:pt x="3175000" y="90976"/>
                      <a:pt x="3175000" y="203200"/>
                    </a:cubicBezTo>
                    <a:cubicBezTo>
                      <a:pt x="3175000" y="315424"/>
                      <a:pt x="3084024" y="406400"/>
                      <a:pt x="29718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FE1F5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3175000" cy="4349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0069F4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Handles blind execution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1785600" y="6464300"/>
              <a:ext cx="11277600" cy="4254500"/>
              <a:chOff x="0" y="0"/>
              <a:chExt cx="11277600" cy="42545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277600" cy="4254500"/>
              </a:xfrm>
              <a:custGeom>
                <a:avLst/>
                <a:gdLst/>
                <a:ahLst/>
                <a:cxnLst/>
                <a:rect l="l" t="t" r="r" b="b"/>
                <a:pathLst>
                  <a:path w="11277600" h="4254500">
                    <a:moveTo>
                      <a:pt x="228600" y="0"/>
                    </a:moveTo>
                    <a:lnTo>
                      <a:pt x="11049000" y="0"/>
                    </a:lnTo>
                    <a:cubicBezTo>
                      <a:pt x="11175252" y="0"/>
                      <a:pt x="11277600" y="102348"/>
                      <a:pt x="11277600" y="228600"/>
                    </a:cubicBezTo>
                    <a:lnTo>
                      <a:pt x="11277600" y="4025900"/>
                    </a:lnTo>
                    <a:cubicBezTo>
                      <a:pt x="11277600" y="4152152"/>
                      <a:pt x="11175252" y="4254500"/>
                      <a:pt x="11049000" y="4254500"/>
                    </a:cubicBezTo>
                    <a:lnTo>
                      <a:pt x="228600" y="4254500"/>
                    </a:lnTo>
                    <a:cubicBezTo>
                      <a:pt x="102348" y="4254500"/>
                      <a:pt x="0" y="4152152"/>
                      <a:pt x="0" y="4025900"/>
                    </a:cubicBezTo>
                    <a:lnTo>
                      <a:pt x="0" y="228600"/>
                    </a:ln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4F8FD"/>
              </a:solidFill>
              <a:ln w="14288" cap="sq">
                <a:solidFill>
                  <a:srgbClr val="D9E5F2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11277600" cy="429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2141200" y="6819900"/>
              <a:ext cx="609600" cy="609600"/>
              <a:chOff x="0" y="0"/>
              <a:chExt cx="609600" cy="6096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609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609600">
                    <a:moveTo>
                      <a:pt x="0" y="304800"/>
                    </a:moveTo>
                    <a:cubicBezTo>
                      <a:pt x="0" y="473136"/>
                      <a:pt x="136464" y="609600"/>
                      <a:pt x="304800" y="609600"/>
                    </a:cubicBezTo>
                    <a:cubicBezTo>
                      <a:pt x="473136" y="609600"/>
                      <a:pt x="609600" y="473136"/>
                      <a:pt x="609600" y="304800"/>
                    </a:cubicBezTo>
                    <a:cubicBezTo>
                      <a:pt x="609600" y="136464"/>
                      <a:pt x="473136" y="0"/>
                      <a:pt x="304800" y="0"/>
                    </a:cubicBezTo>
                    <a:cubicBezTo>
                      <a:pt x="136464" y="0"/>
                      <a:pt x="0" y="136464"/>
                      <a:pt x="0" y="304800"/>
                    </a:cubicBezTo>
                    <a:close/>
                  </a:path>
                </a:pathLst>
              </a:custGeom>
              <a:solidFill>
                <a:srgbClr val="0069F4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38100"/>
                <a:ext cx="609600" cy="647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4</a:t>
                </a:r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12954000" y="6905625"/>
              <a:ext cx="9753600" cy="412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52"/>
                </a:lnSpc>
              </a:pPr>
              <a:r>
                <a:rPr lang="en-US" sz="2100" b="1">
                  <a:solidFill>
                    <a:srgbClr val="05183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Real-Time OpenVINO Edge Pipeline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141200" y="7635875"/>
              <a:ext cx="19685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Sub-50ms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4236700" y="7794625"/>
              <a:ext cx="3556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>
                  <a:solidFill>
                    <a:srgbClr val="52708F"/>
                  </a:solidFill>
                  <a:latin typeface="Inter"/>
                  <a:ea typeface="Inter"/>
                  <a:cs typeface="Inter"/>
                  <a:sym typeface="Inter"/>
                </a:rPr>
                <a:t>edge inference budget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421600" y="7670800"/>
              <a:ext cx="889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b="1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116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1374100" y="7781925"/>
              <a:ext cx="1333500" cy="245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540"/>
                </a:lnSpc>
              </a:pPr>
              <a:r>
                <a:rPr lang="en-US" sz="1100" b="1">
                  <a:solidFill>
                    <a:srgbClr val="52708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TESTS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141200" y="8724900"/>
              <a:ext cx="10566400" cy="732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 b="1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Sub-50ms</a:t>
              </a:r>
              <a:r>
                <a:rPr lang="en-US" sz="165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 inference budget on Intel Core Ultra (CPU / Arc GPU / AI Boost NPU). Zero-hardcoded portability backed by </a:t>
              </a:r>
              <a:r>
                <a:rPr lang="en-US" sz="1650" b="1">
                  <a:solidFill>
                    <a:srgbClr val="0069F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116</a:t>
              </a:r>
              <a:r>
                <a:rPr lang="en-US" sz="1650">
                  <a:solidFill>
                    <a:srgbClr val="051838"/>
                  </a:solidFill>
                  <a:latin typeface="Inter"/>
                  <a:ea typeface="Inter"/>
                  <a:cs typeface="Inter"/>
                  <a:sym typeface="Inter"/>
                </a:rPr>
                <a:t> automated unit tests.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12141200" y="9982200"/>
              <a:ext cx="4445000" cy="406400"/>
              <a:chOff x="0" y="0"/>
              <a:chExt cx="4445000" cy="4064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44450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445000" h="406400">
                    <a:moveTo>
                      <a:pt x="203200" y="0"/>
                    </a:moveTo>
                    <a:lnTo>
                      <a:pt x="4241800" y="0"/>
                    </a:lnTo>
                    <a:cubicBezTo>
                      <a:pt x="4354024" y="0"/>
                      <a:pt x="4445000" y="90976"/>
                      <a:pt x="4445000" y="203200"/>
                    </a:cubicBezTo>
                    <a:cubicBezTo>
                      <a:pt x="4445000" y="315424"/>
                      <a:pt x="4354024" y="406400"/>
                      <a:pt x="42418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FE1F5"/>
                </a:solidFill>
                <a:prstDash val="solid"/>
                <a:miter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-28575"/>
                <a:ext cx="4445000" cy="4349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0069F4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Meets the edge latency budget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251823" y="1624806"/>
            <a:ext cx="172974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069F4"/>
                </a:solidFill>
                <a:latin typeface="Inter Bold"/>
                <a:ea typeface="Inter Bold"/>
                <a:cs typeface="Inter Bold"/>
                <a:sym typeface="Inter Bold"/>
              </a:rPr>
              <a:t>Perceive → Predict → Adapt → Guard → Execute → Replan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811000" y="1682274"/>
            <a:ext cx="5981700" cy="199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 dirty="0">
                <a:solidFill>
                  <a:srgbClr val="52708F"/>
                </a:solidFill>
                <a:latin typeface="Inter"/>
                <a:ea typeface="Inter"/>
                <a:cs typeface="Inter"/>
                <a:sym typeface="Inter"/>
              </a:rPr>
              <a:t>Adapter RMSE: 0.5449 → 0.2529 (53.6% reduction)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34380" y="318417"/>
            <a:ext cx="5678424" cy="609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85"/>
              </a:lnSpc>
            </a:pPr>
            <a:r>
              <a:rPr lang="en-US" sz="3632" b="1" dirty="0">
                <a:solidFill>
                  <a:srgbClr val="0015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Case &amp;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3776" y="1391056"/>
            <a:ext cx="1554480" cy="32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 b="1">
                <a:solidFill>
                  <a:srgbClr val="008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it fits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1705390"/>
            <a:ext cx="4364182" cy="2372241"/>
          </a:xfrm>
          <a:custGeom>
            <a:avLst/>
            <a:gdLst/>
            <a:ahLst/>
            <a:cxnLst/>
            <a:rect l="l" t="t" r="r" b="b"/>
            <a:pathLst>
              <a:path w="4364182" h="2372241">
                <a:moveTo>
                  <a:pt x="0" y="0"/>
                </a:moveTo>
                <a:lnTo>
                  <a:pt x="4364182" y="0"/>
                </a:lnTo>
                <a:lnTo>
                  <a:pt x="436418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2569017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83664" y="2238429"/>
            <a:ext cx="1719072" cy="55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5"/>
              </a:lnSpc>
            </a:pPr>
            <a:r>
              <a:rPr lang="en-US" sz="1625" b="1">
                <a:solidFill>
                  <a:srgbClr val="0015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Hospitality &amp; service robotics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3664" y="3066481"/>
            <a:ext cx="2761488" cy="68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00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Safer table-setting and table-reset assistance in structured dining environments.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4" y="4066699"/>
            <a:ext cx="4364182" cy="2372241"/>
          </a:xfrm>
          <a:custGeom>
            <a:avLst/>
            <a:gdLst/>
            <a:ahLst/>
            <a:cxnLst/>
            <a:rect l="l" t="t" r="r" b="b"/>
            <a:pathLst>
              <a:path w="4364182" h="2372241">
                <a:moveTo>
                  <a:pt x="0" y="0"/>
                </a:moveTo>
                <a:lnTo>
                  <a:pt x="4364182" y="0"/>
                </a:lnTo>
                <a:lnTo>
                  <a:pt x="436418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5330" y="4711687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83664" y="4612585"/>
            <a:ext cx="2761488" cy="27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b="1">
                <a:solidFill>
                  <a:srgbClr val="0015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Robotics research labs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3664" y="5258861"/>
            <a:ext cx="2487168" cy="67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400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verifiable testbed for bimanual vision-language-action policies</a:t>
            </a:r>
            <a:r>
              <a:rPr lang="en-US" sz="1173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6574" y="6209369"/>
            <a:ext cx="4364182" cy="2372241"/>
          </a:xfrm>
          <a:custGeom>
            <a:avLst/>
            <a:gdLst/>
            <a:ahLst/>
            <a:cxnLst/>
            <a:rect l="l" t="t" r="r" b="b"/>
            <a:pathLst>
              <a:path w="4364182" h="2372241">
                <a:moveTo>
                  <a:pt x="0" y="0"/>
                </a:moveTo>
                <a:lnTo>
                  <a:pt x="4364182" y="0"/>
                </a:lnTo>
                <a:lnTo>
                  <a:pt x="436418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45330" y="7062064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83664" y="6652609"/>
            <a:ext cx="2450592" cy="27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b="1" dirty="0">
                <a:solidFill>
                  <a:srgbClr val="0015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Edge AI deployment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1570" y="6958753"/>
            <a:ext cx="2773582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n-US" sz="1200" b="1" u="none" strike="noStrike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Real-time inference and safety supervision on Intel hardware without relying on cloud response time.</a:t>
            </a:r>
          </a:p>
          <a:p>
            <a:pPr marL="0" lvl="0" indent="0" algn="just">
              <a:spcBef>
                <a:spcPct val="0"/>
              </a:spcBef>
            </a:pPr>
            <a:r>
              <a:rPr lang="en-US" sz="1200" b="1" u="none" strike="noStrike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Learned Action Adapter: refines </a:t>
            </a:r>
            <a:r>
              <a:rPr lang="en-US" sz="1200" b="1" u="none" strike="noStrike" dirty="0" err="1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SmolVLA</a:t>
            </a:r>
            <a:r>
              <a:rPr lang="en-US" sz="1200" b="1" u="none" strike="noStrike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action chunks before safety supervision.</a:t>
            </a:r>
          </a:p>
        </p:txBody>
      </p:sp>
      <p:sp>
        <p:nvSpPr>
          <p:cNvPr id="17" name="Freeform 17"/>
          <p:cNvSpPr/>
          <p:nvPr/>
        </p:nvSpPr>
        <p:spPr>
          <a:xfrm>
            <a:off x="4779818" y="1279043"/>
            <a:ext cx="7634584" cy="7302567"/>
          </a:xfrm>
          <a:custGeom>
            <a:avLst/>
            <a:gdLst/>
            <a:ahLst/>
            <a:cxnLst/>
            <a:rect l="l" t="t" r="r" b="b"/>
            <a:pathLst>
              <a:path w="7634584" h="7302567">
                <a:moveTo>
                  <a:pt x="0" y="0"/>
                </a:moveTo>
                <a:lnTo>
                  <a:pt x="7634584" y="0"/>
                </a:lnTo>
                <a:lnTo>
                  <a:pt x="7634584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17330" y="4493047"/>
            <a:ext cx="6978316" cy="3443576"/>
          </a:xfrm>
          <a:custGeom>
            <a:avLst/>
            <a:gdLst/>
            <a:ahLst/>
            <a:cxnLst/>
            <a:rect l="l" t="t" r="r" b="b"/>
            <a:pathLst>
              <a:path w="6978316" h="3443576">
                <a:moveTo>
                  <a:pt x="0" y="0"/>
                </a:moveTo>
                <a:lnTo>
                  <a:pt x="6978316" y="0"/>
                </a:lnTo>
                <a:lnTo>
                  <a:pt x="697831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873598" y="1497682"/>
            <a:ext cx="5239206" cy="4722618"/>
          </a:xfrm>
          <a:custGeom>
            <a:avLst/>
            <a:gdLst/>
            <a:ahLst/>
            <a:cxnLst/>
            <a:rect l="l" t="t" r="r" b="b"/>
            <a:pathLst>
              <a:path w="5239206" h="4722618">
                <a:moveTo>
                  <a:pt x="0" y="0"/>
                </a:moveTo>
                <a:lnTo>
                  <a:pt x="5239206" y="0"/>
                </a:lnTo>
                <a:lnTo>
                  <a:pt x="5239206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956440" y="728070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612708" y="7499343"/>
            <a:ext cx="3062584" cy="437279"/>
          </a:xfrm>
          <a:custGeom>
            <a:avLst/>
            <a:gdLst/>
            <a:ahLst/>
            <a:cxnLst/>
            <a:rect l="l" t="t" r="r" b="b"/>
            <a:pathLst>
              <a:path w="3062584" h="437279">
                <a:moveTo>
                  <a:pt x="0" y="0"/>
                </a:moveTo>
                <a:lnTo>
                  <a:pt x="3062584" y="0"/>
                </a:lnTo>
                <a:lnTo>
                  <a:pt x="306258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691872" y="1391056"/>
            <a:ext cx="1883664" cy="328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 b="1">
                <a:solidFill>
                  <a:srgbClr val="008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it matters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622220" y="1705390"/>
            <a:ext cx="5239206" cy="2372241"/>
          </a:xfrm>
          <a:custGeom>
            <a:avLst/>
            <a:gdLst/>
            <a:ahLst/>
            <a:cxnLst/>
            <a:rect l="l" t="t" r="r" b="b"/>
            <a:pathLst>
              <a:path w="5239206" h="2372241">
                <a:moveTo>
                  <a:pt x="0" y="0"/>
                </a:moveTo>
                <a:lnTo>
                  <a:pt x="5239206" y="0"/>
                </a:lnTo>
                <a:lnTo>
                  <a:pt x="523920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840976" y="2350377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100048" y="2256862"/>
            <a:ext cx="2615184" cy="27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b="1">
                <a:solidFill>
                  <a:srgbClr val="0015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Protects the task goal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00048" y="2692566"/>
            <a:ext cx="2304288" cy="855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400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Preserves the plate and table state while the robot acts.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622220" y="4066699"/>
            <a:ext cx="5239206" cy="2372241"/>
          </a:xfrm>
          <a:custGeom>
            <a:avLst/>
            <a:gdLst/>
            <a:ahLst/>
            <a:cxnLst/>
            <a:rect l="l" t="t" r="r" b="b"/>
            <a:pathLst>
              <a:path w="5239206" h="2372241">
                <a:moveTo>
                  <a:pt x="0" y="0"/>
                </a:moveTo>
                <a:lnTo>
                  <a:pt x="5239206" y="0"/>
                </a:lnTo>
                <a:lnTo>
                  <a:pt x="523920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840976" y="4493047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4100048" y="4417132"/>
            <a:ext cx="3127248" cy="27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b="1">
                <a:solidFill>
                  <a:srgbClr val="0015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Stops unsafe continuation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00048" y="4849083"/>
            <a:ext cx="2889504" cy="112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496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runtime </a:t>
            </a:r>
            <a:r>
              <a:rPr lang="en-US" sz="1400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supervisor</a:t>
            </a:r>
            <a:r>
              <a:rPr lang="en-US" sz="1496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can hold or stop execution when contact, collision, or joint-rate limits are approached.</a:t>
            </a:r>
          </a:p>
        </p:txBody>
      </p:sp>
      <p:sp>
        <p:nvSpPr>
          <p:cNvPr id="31" name="Freeform 31"/>
          <p:cNvSpPr/>
          <p:nvPr/>
        </p:nvSpPr>
        <p:spPr>
          <a:xfrm>
            <a:off x="12622220" y="6209369"/>
            <a:ext cx="5239206" cy="2372241"/>
          </a:xfrm>
          <a:custGeom>
            <a:avLst/>
            <a:gdLst/>
            <a:ahLst/>
            <a:cxnLst/>
            <a:rect l="l" t="t" r="r" b="b"/>
            <a:pathLst>
              <a:path w="5239206" h="2372241">
                <a:moveTo>
                  <a:pt x="0" y="0"/>
                </a:moveTo>
                <a:lnTo>
                  <a:pt x="5239206" y="0"/>
                </a:lnTo>
                <a:lnTo>
                  <a:pt x="523920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840976" y="6854356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4100048" y="6700846"/>
            <a:ext cx="3364992" cy="27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b="1">
                <a:solidFill>
                  <a:srgbClr val="0015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Makes progress measurable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00048" y="7246252"/>
            <a:ext cx="2962656" cy="95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400" b="1" dirty="0">
                <a:solidFill>
                  <a:srgbClr val="0015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Separates verified capabilities from limitations and creates a clear path toward reliable end-to-end deployment.</a:t>
            </a:r>
          </a:p>
        </p:txBody>
      </p:sp>
      <p:sp>
        <p:nvSpPr>
          <p:cNvPr id="35" name="Freeform 35"/>
          <p:cNvSpPr/>
          <p:nvPr/>
        </p:nvSpPr>
        <p:spPr>
          <a:xfrm>
            <a:off x="426574" y="8778386"/>
            <a:ext cx="17434852" cy="1300906"/>
          </a:xfrm>
          <a:custGeom>
            <a:avLst/>
            <a:gdLst/>
            <a:ahLst/>
            <a:cxnLst/>
            <a:rect l="l" t="t" r="r" b="b"/>
            <a:pathLst>
              <a:path w="17434852" h="1300906">
                <a:moveTo>
                  <a:pt x="0" y="0"/>
                </a:moveTo>
                <a:lnTo>
                  <a:pt x="17434852" y="0"/>
                </a:lnTo>
                <a:lnTo>
                  <a:pt x="1743485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4206240" y="9103894"/>
            <a:ext cx="9857232" cy="48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2912" b="1">
                <a:solidFill>
                  <a:srgbClr val="0085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generated actions to accountable execution.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45552" y="7614039"/>
            <a:ext cx="2596896" cy="2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29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 OPERATING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0352" y="326785"/>
            <a:ext cx="9363456" cy="67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6" b="1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TableGuard-Lite System Architecture</a:t>
            </a:r>
          </a:p>
        </p:txBody>
      </p:sp>
      <p:sp>
        <p:nvSpPr>
          <p:cNvPr id="4" name="Freeform 4"/>
          <p:cNvSpPr/>
          <p:nvPr/>
        </p:nvSpPr>
        <p:spPr>
          <a:xfrm>
            <a:off x="428625" y="1924050"/>
            <a:ext cx="3057525" cy="4505325"/>
          </a:xfrm>
          <a:custGeom>
            <a:avLst/>
            <a:gdLst/>
            <a:ahLst/>
            <a:cxnLst/>
            <a:rect l="l" t="t" r="r" b="b"/>
            <a:pathLst>
              <a:path w="3057525" h="4505325">
                <a:moveTo>
                  <a:pt x="0" y="0"/>
                </a:moveTo>
                <a:lnTo>
                  <a:pt x="3057525" y="0"/>
                </a:lnTo>
                <a:lnTo>
                  <a:pt x="305752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700" y="21431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77824" y="2258020"/>
            <a:ext cx="182880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6464" y="2226353"/>
            <a:ext cx="969264" cy="448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 b="1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Inputs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3366570"/>
            <a:ext cx="2176272" cy="234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3"/>
              </a:lnSpc>
              <a:spcBef>
                <a:spcPct val="0"/>
              </a:spcBef>
            </a:pPr>
            <a:r>
              <a:rPr lang="en-US" sz="2224" u="none" strike="noStrike" dirty="0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Natural-Language Instruction</a:t>
            </a:r>
          </a:p>
          <a:p>
            <a:pPr marL="0" lvl="0" indent="0" algn="l">
              <a:lnSpc>
                <a:spcPts val="3113"/>
              </a:lnSpc>
              <a:spcBef>
                <a:spcPct val="0"/>
              </a:spcBef>
            </a:pPr>
            <a:r>
              <a:rPr lang="en-US" sz="2224" u="none" strike="noStrike" dirty="0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</a:p>
          <a:p>
            <a:pPr marL="0" lvl="0" indent="0" algn="l">
              <a:lnSpc>
                <a:spcPts val="3113"/>
              </a:lnSpc>
              <a:spcBef>
                <a:spcPct val="0"/>
              </a:spcBef>
            </a:pPr>
            <a:r>
              <a:rPr lang="en-US" sz="2224" u="none" strike="noStrike" dirty="0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3 RGB Cameras + 12-Joint State</a:t>
            </a:r>
          </a:p>
        </p:txBody>
      </p:sp>
      <p:sp>
        <p:nvSpPr>
          <p:cNvPr id="9" name="Freeform 9"/>
          <p:cNvSpPr/>
          <p:nvPr/>
        </p:nvSpPr>
        <p:spPr>
          <a:xfrm>
            <a:off x="3257550" y="385762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695700" y="1924050"/>
            <a:ext cx="3924300" cy="4505325"/>
          </a:xfrm>
          <a:custGeom>
            <a:avLst/>
            <a:gdLst/>
            <a:ahLst/>
            <a:cxnLst/>
            <a:rect l="l" t="t" r="r" b="b"/>
            <a:pathLst>
              <a:path w="3924300" h="4505325">
                <a:moveTo>
                  <a:pt x="0" y="0"/>
                </a:moveTo>
                <a:lnTo>
                  <a:pt x="3924300" y="0"/>
                </a:lnTo>
                <a:lnTo>
                  <a:pt x="392430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914775" y="214312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28032" y="2230713"/>
            <a:ext cx="2359152" cy="43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 b="1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SmolVLA Policy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06240" y="3536713"/>
            <a:ext cx="2975610" cy="338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  <a:spcBef>
                <a:spcPct val="0"/>
              </a:spcBef>
            </a:pPr>
            <a:r>
              <a:rPr lang="en-US" sz="2172" u="none" strike="noStrike" dirty="0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20 × 12 Action Chunk</a:t>
            </a:r>
          </a:p>
        </p:txBody>
      </p:sp>
      <p:sp>
        <p:nvSpPr>
          <p:cNvPr id="14" name="Freeform 14"/>
          <p:cNvSpPr/>
          <p:nvPr/>
        </p:nvSpPr>
        <p:spPr>
          <a:xfrm>
            <a:off x="7400925" y="38576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829550" y="1924050"/>
            <a:ext cx="3714750" cy="4505325"/>
          </a:xfrm>
          <a:custGeom>
            <a:avLst/>
            <a:gdLst/>
            <a:ahLst/>
            <a:cxnLst/>
            <a:rect l="l" t="t" r="r" b="b"/>
            <a:pathLst>
              <a:path w="3714750" h="4505325">
                <a:moveTo>
                  <a:pt x="0" y="0"/>
                </a:moveTo>
                <a:lnTo>
                  <a:pt x="3714750" y="0"/>
                </a:lnTo>
                <a:lnTo>
                  <a:pt x="371475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48625" y="21431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869680" y="2229210"/>
            <a:ext cx="1682496" cy="90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 b="1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Safety Supervisor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66176" y="3402982"/>
            <a:ext cx="2596896" cy="70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  <a:spcBef>
                <a:spcPct val="0"/>
              </a:spcBef>
            </a:pPr>
            <a:r>
              <a:rPr lang="en-US" sz="2172" u="none" strike="noStrike" dirty="0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Joint-rate · collision · 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66176" y="4369960"/>
            <a:ext cx="2468880" cy="70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  <a:spcBef>
                <a:spcPct val="0"/>
              </a:spcBef>
            </a:pPr>
            <a:r>
              <a:rPr lang="en-US" sz="2172" u="none" strike="noStrike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Scene-preservation checks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315700" y="385762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753850" y="1924050"/>
            <a:ext cx="6105525" cy="4505325"/>
          </a:xfrm>
          <a:custGeom>
            <a:avLst/>
            <a:gdLst/>
            <a:ahLst/>
            <a:cxnLst/>
            <a:rect l="l" t="t" r="r" b="b"/>
            <a:pathLst>
              <a:path w="6105525" h="4505325">
                <a:moveTo>
                  <a:pt x="0" y="0"/>
                </a:moveTo>
                <a:lnTo>
                  <a:pt x="6105525" y="0"/>
                </a:lnTo>
                <a:lnTo>
                  <a:pt x="610552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893040" y="2235878"/>
            <a:ext cx="4065470" cy="86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0"/>
              </a:lnSpc>
              <a:spcBef>
                <a:spcPct val="0"/>
              </a:spcBef>
            </a:pPr>
            <a:r>
              <a:rPr lang="en-US" sz="2493" b="1" u="none" strike="noStrike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Dual SO-101 MuJoCo Execution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192000" y="21431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893040" y="3041222"/>
            <a:ext cx="3364992" cy="35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72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Two robot arms in MuJoCo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32576" y="6667500"/>
            <a:ext cx="2249424" cy="35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sz="2076" b="1">
                <a:solidFill>
                  <a:srgbClr val="2279F5"/>
                </a:solidFill>
                <a:latin typeface="Roboto Bold"/>
                <a:ea typeface="Roboto Bold"/>
                <a:cs typeface="Roboto Bold"/>
                <a:sym typeface="Roboto Bold"/>
              </a:rPr>
              <a:t>fresh observations</a:t>
            </a:r>
          </a:p>
        </p:txBody>
      </p:sp>
      <p:sp>
        <p:nvSpPr>
          <p:cNvPr id="27" name="Freeform 27"/>
          <p:cNvSpPr/>
          <p:nvPr/>
        </p:nvSpPr>
        <p:spPr>
          <a:xfrm>
            <a:off x="3914775" y="749617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3486150" y="7038975"/>
            <a:ext cx="5886450" cy="2143125"/>
            <a:chOff x="0" y="0"/>
            <a:chExt cx="7848600" cy="2857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48600" cy="2857500"/>
            </a:xfrm>
            <a:custGeom>
              <a:avLst/>
              <a:gdLst/>
              <a:ahLst/>
              <a:cxnLst/>
              <a:rect l="l" t="t" r="r" b="b"/>
              <a:pathLst>
                <a:path w="7848600" h="2857500">
                  <a:moveTo>
                    <a:pt x="0" y="0"/>
                  </a:moveTo>
                  <a:lnTo>
                    <a:pt x="7848600" y="0"/>
                  </a:lnTo>
                  <a:lnTo>
                    <a:pt x="7848600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1509268" y="541500"/>
              <a:ext cx="4901184" cy="578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0"/>
                </a:lnSpc>
                <a:spcBef>
                  <a:spcPct val="0"/>
                </a:spcBef>
              </a:pPr>
              <a:r>
                <a:rPr lang="en-US" sz="2593" b="1" u="none" strike="noStrike">
                  <a:solidFill>
                    <a:srgbClr val="00153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Closed-Loop Replanning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8980" y="1524742"/>
              <a:ext cx="4486656" cy="931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24"/>
                </a:lnSpc>
                <a:spcBef>
                  <a:spcPct val="0"/>
                </a:spcBef>
              </a:pPr>
              <a:r>
                <a:rPr lang="en-US" sz="2172" u="none" strike="noStrike">
                  <a:solidFill>
                    <a:srgbClr val="00153B"/>
                  </a:solidFill>
                  <a:latin typeface="Roboto"/>
                  <a:ea typeface="Roboto"/>
                  <a:cs typeface="Roboto"/>
                  <a:sym typeface="Roboto"/>
                </a:rPr>
                <a:t>Execute 10 learned steps, then re-observe and replan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2839700" y="6210300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905488" y="6592336"/>
            <a:ext cx="1572768" cy="35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sz="2076" b="1">
                <a:solidFill>
                  <a:srgbClr val="2279F5"/>
                </a:solidFill>
                <a:latin typeface="Roboto Bold"/>
                <a:ea typeface="Roboto Bold"/>
                <a:cs typeface="Roboto Bold"/>
                <a:sym typeface="Roboto Bold"/>
              </a:rPr>
              <a:t>failure states</a:t>
            </a:r>
          </a:p>
        </p:txBody>
      </p:sp>
      <p:sp>
        <p:nvSpPr>
          <p:cNvPr id="34" name="Freeform 34"/>
          <p:cNvSpPr/>
          <p:nvPr/>
        </p:nvSpPr>
        <p:spPr>
          <a:xfrm>
            <a:off x="9963150" y="6800334"/>
            <a:ext cx="5886450" cy="2143125"/>
          </a:xfrm>
          <a:custGeom>
            <a:avLst/>
            <a:gdLst/>
            <a:ahLst/>
            <a:cxnLst/>
            <a:rect l="l" t="t" r="r" b="b"/>
            <a:pathLst>
              <a:path w="5886450" h="2143125">
                <a:moveTo>
                  <a:pt x="0" y="0"/>
                </a:moveTo>
                <a:lnTo>
                  <a:pt x="5886450" y="0"/>
                </a:lnTo>
                <a:lnTo>
                  <a:pt x="5886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010775" y="749617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0259568" y="7699843"/>
            <a:ext cx="182880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789920" y="7678463"/>
            <a:ext cx="4224528" cy="448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 b="1">
                <a:solidFill>
                  <a:srgbClr val="00153B"/>
                </a:solidFill>
                <a:latin typeface="Roboto Bold"/>
                <a:ea typeface="Roboto Bold"/>
                <a:cs typeface="Roboto Bold"/>
                <a:sym typeface="Roboto Bold"/>
              </a:rPr>
              <a:t>Recovery-Oriented Learning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45984" y="8284265"/>
            <a:ext cx="4605528" cy="338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24"/>
              </a:lnSpc>
              <a:spcBef>
                <a:spcPct val="0"/>
              </a:spcBef>
            </a:pPr>
            <a:r>
              <a:rPr lang="en-US" sz="2172" u="none" strike="noStrike" dirty="0">
                <a:solidFill>
                  <a:srgbClr val="00153B"/>
                </a:solidFill>
                <a:latin typeface="Roboto"/>
                <a:ea typeface="Roboto"/>
                <a:cs typeface="Roboto"/>
                <a:sym typeface="Roboto"/>
              </a:rPr>
              <a:t>Failure states → targeted fine-tuning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670048" y="9707404"/>
            <a:ext cx="12947904" cy="29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7"/>
              </a:lnSpc>
              <a:spcBef>
                <a:spcPct val="0"/>
              </a:spcBef>
            </a:pPr>
            <a:r>
              <a:rPr lang="en-US" sz="1762" u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Safety-aware closed-loop VLA architecture for bimanual manipulation with runtime supervision and recovery-oriented learning.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79392" y="2258020"/>
            <a:ext cx="182880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57616" y="2258020"/>
            <a:ext cx="182880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380976" y="2258020"/>
            <a:ext cx="182880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078224" y="7699843"/>
            <a:ext cx="182880" cy="4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sz="237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0352" y="1014889"/>
            <a:ext cx="7150608" cy="29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7"/>
              </a:lnSpc>
              <a:spcBef>
                <a:spcPct val="0"/>
              </a:spcBef>
            </a:pPr>
            <a:r>
              <a:rPr lang="en-US" sz="1762" u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Safety-aware closed-loop VLA architecture for bimanual manipulation</a:t>
            </a:r>
          </a:p>
        </p:txBody>
      </p:sp>
      <p:sp>
        <p:nvSpPr>
          <p:cNvPr id="45" name="Freeform 45"/>
          <p:cNvSpPr/>
          <p:nvPr/>
        </p:nvSpPr>
        <p:spPr>
          <a:xfrm>
            <a:off x="2898893" y="6371808"/>
            <a:ext cx="6916090" cy="3165487"/>
          </a:xfrm>
          <a:custGeom>
            <a:avLst/>
            <a:gdLst/>
            <a:ahLst/>
            <a:cxnLst/>
            <a:rect l="l" t="t" r="r" b="b"/>
            <a:pathLst>
              <a:path w="6916090" h="3165487">
                <a:moveTo>
                  <a:pt x="6916090" y="1303767"/>
                </a:moveTo>
                <a:lnTo>
                  <a:pt x="6771484" y="1303767"/>
                </a:lnTo>
                <a:cubicBezTo>
                  <a:pt x="6733132" y="1303767"/>
                  <a:pt x="6696352" y="1319002"/>
                  <a:pt x="6669232" y="1346121"/>
                </a:cubicBezTo>
                <a:cubicBezTo>
                  <a:pt x="6642114" y="1373240"/>
                  <a:pt x="6626878" y="1410021"/>
                  <a:pt x="6626878" y="1448373"/>
                </a:cubicBezTo>
                <a:lnTo>
                  <a:pt x="6626878" y="2936887"/>
                </a:lnTo>
                <a:cubicBezTo>
                  <a:pt x="6626878" y="2997516"/>
                  <a:pt x="6602794" y="3055662"/>
                  <a:pt x="6559923" y="3098532"/>
                </a:cubicBezTo>
                <a:cubicBezTo>
                  <a:pt x="6517052" y="3141403"/>
                  <a:pt x="6458907" y="3165487"/>
                  <a:pt x="6398278" y="3165487"/>
                </a:cubicBezTo>
                <a:lnTo>
                  <a:pt x="228600" y="3165487"/>
                </a:lnTo>
                <a:cubicBezTo>
                  <a:pt x="102348" y="3165487"/>
                  <a:pt x="0" y="3063139"/>
                  <a:pt x="0" y="2936887"/>
                </a:cubicBezTo>
                <a:lnTo>
                  <a:pt x="0" y="514767"/>
                </a:lnTo>
                <a:cubicBezTo>
                  <a:pt x="0" y="388515"/>
                  <a:pt x="102348" y="286167"/>
                  <a:pt x="228600" y="286167"/>
                </a:cubicBezTo>
                <a:lnTo>
                  <a:pt x="1219128" y="286167"/>
                </a:lnTo>
                <a:cubicBezTo>
                  <a:pt x="1298150" y="286167"/>
                  <a:pt x="1362211" y="222107"/>
                  <a:pt x="1362211" y="143083"/>
                </a:cubicBezTo>
                <a:lnTo>
                  <a:pt x="1362211" y="0"/>
                </a:lnTo>
              </a:path>
            </a:pathLst>
          </a:custGeom>
          <a:ln w="38100" cap="flat">
            <a:solidFill>
              <a:srgbClr val="2279F5"/>
            </a:solidFill>
            <a:prstDash val="solid"/>
            <a:headEnd type="triangle" w="lg" len="med"/>
            <a:tailEnd type="arrow" w="med" len="sm"/>
          </a:ln>
        </p:spPr>
      </p:sp>
      <p:sp>
        <p:nvSpPr>
          <p:cNvPr id="46" name="AutoShape 46"/>
          <p:cNvSpPr/>
          <p:nvPr/>
        </p:nvSpPr>
        <p:spPr>
          <a:xfrm flipV="1">
            <a:off x="5791200" y="6472574"/>
            <a:ext cx="0" cy="655520"/>
          </a:xfrm>
          <a:prstGeom prst="line">
            <a:avLst/>
          </a:prstGeom>
          <a:ln w="38100" cap="flat">
            <a:solidFill>
              <a:srgbClr val="2279F5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7" name="Freeform 47"/>
          <p:cNvSpPr/>
          <p:nvPr/>
        </p:nvSpPr>
        <p:spPr>
          <a:xfrm>
            <a:off x="15849600" y="6242114"/>
            <a:ext cx="760757" cy="1000285"/>
          </a:xfrm>
          <a:custGeom>
            <a:avLst/>
            <a:gdLst/>
            <a:ahLst/>
            <a:cxnLst/>
            <a:rect l="l" t="t" r="r" b="b"/>
            <a:pathLst>
              <a:path w="760757" h="1000285">
                <a:moveTo>
                  <a:pt x="760757" y="0"/>
                </a:moveTo>
                <a:lnTo>
                  <a:pt x="760757" y="771684"/>
                </a:lnTo>
                <a:cubicBezTo>
                  <a:pt x="760757" y="832313"/>
                  <a:pt x="736673" y="890458"/>
                  <a:pt x="693801" y="933329"/>
                </a:cubicBezTo>
                <a:cubicBezTo>
                  <a:pt x="650931" y="976200"/>
                  <a:pt x="592786" y="1000284"/>
                  <a:pt x="532157" y="1000284"/>
                </a:cubicBezTo>
                <a:lnTo>
                  <a:pt x="0" y="1000284"/>
                </a:lnTo>
              </a:path>
            </a:pathLst>
          </a:custGeom>
          <a:ln w="38100" cap="flat">
            <a:solidFill>
              <a:srgbClr val="2279F5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8" name="AutoShape 48"/>
          <p:cNvSpPr/>
          <p:nvPr/>
        </p:nvSpPr>
        <p:spPr>
          <a:xfrm flipV="1">
            <a:off x="8850630" y="6466804"/>
            <a:ext cx="0" cy="655520"/>
          </a:xfrm>
          <a:prstGeom prst="line">
            <a:avLst/>
          </a:prstGeom>
          <a:ln w="38100" cap="flat">
            <a:solidFill>
              <a:srgbClr val="2279F5"/>
            </a:solidFill>
            <a:prstDash val="solid"/>
            <a:headEnd type="arrow" w="med" len="sm"/>
            <a:tailEnd type="none" w="sm" len="sm"/>
          </a:ln>
        </p:spPr>
      </p:sp>
      <p:grpSp>
        <p:nvGrpSpPr>
          <p:cNvPr id="49" name="Group 49"/>
          <p:cNvGrpSpPr/>
          <p:nvPr/>
        </p:nvGrpSpPr>
        <p:grpSpPr>
          <a:xfrm>
            <a:off x="4078224" y="4567047"/>
            <a:ext cx="3181350" cy="495300"/>
            <a:chOff x="0" y="0"/>
            <a:chExt cx="4241800" cy="660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241800" cy="660400"/>
            </a:xfrm>
            <a:custGeom>
              <a:avLst/>
              <a:gdLst/>
              <a:ahLst/>
              <a:cxnLst/>
              <a:rect l="l" t="t" r="r" b="b"/>
              <a:pathLst>
                <a:path w="4241800" h="660400">
                  <a:moveTo>
                    <a:pt x="101600" y="0"/>
                  </a:moveTo>
                  <a:lnTo>
                    <a:pt x="4140200" y="0"/>
                  </a:lnTo>
                  <a:cubicBezTo>
                    <a:pt x="4196312" y="0"/>
                    <a:pt x="4241800" y="45488"/>
                    <a:pt x="4241800" y="101600"/>
                  </a:cubicBezTo>
                  <a:lnTo>
                    <a:pt x="4241800" y="558800"/>
                  </a:lnTo>
                  <a:cubicBezTo>
                    <a:pt x="4241800" y="614912"/>
                    <a:pt x="4196312" y="660400"/>
                    <a:pt x="4140200" y="660400"/>
                  </a:cubicBezTo>
                  <a:lnTo>
                    <a:pt x="101600" y="660400"/>
                  </a:lnTo>
                  <a:cubicBezTo>
                    <a:pt x="45488" y="660400"/>
                    <a:pt x="0" y="614912"/>
                    <a:pt x="0" y="5588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279F5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42418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153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Learned Action Adapter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45AEE1F9-8715-4715-A4ED-73BD242BF62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9641" y="3472578"/>
            <a:ext cx="4205495" cy="2439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2382500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071B3A"/>
                </a:solidFill>
                <a:latin typeface="Garet Bold"/>
                <a:ea typeface="Garet Bold"/>
                <a:cs typeface="Garet Bold"/>
                <a:sym typeface="Garet Bold"/>
              </a:rPr>
              <a:t>Results &amp; Deployment Evidence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33450" y="1000125"/>
            <a:ext cx="123825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What is verified today — and what is not yet claimed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438275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CE5E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752600"/>
            <a:ext cx="5334000" cy="1752600"/>
            <a:chOff x="0" y="0"/>
            <a:chExt cx="7112000" cy="2336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12000" cy="2336800"/>
            </a:xfrm>
            <a:custGeom>
              <a:avLst/>
              <a:gdLst/>
              <a:ahLst/>
              <a:cxnLst/>
              <a:rect l="l" t="t" r="r" b="b"/>
              <a:pathLst>
                <a:path w="7112000" h="2336800">
                  <a:moveTo>
                    <a:pt x="152400" y="0"/>
                  </a:moveTo>
                  <a:lnTo>
                    <a:pt x="6959600" y="0"/>
                  </a:lnTo>
                  <a:cubicBezTo>
                    <a:pt x="7043769" y="0"/>
                    <a:pt x="7112000" y="68232"/>
                    <a:pt x="7112000" y="152400"/>
                  </a:cubicBezTo>
                  <a:lnTo>
                    <a:pt x="7112000" y="2184400"/>
                  </a:lnTo>
                  <a:cubicBezTo>
                    <a:pt x="7112000" y="2268568"/>
                    <a:pt x="7043769" y="2336800"/>
                    <a:pt x="6959600" y="2336800"/>
                  </a:cubicBezTo>
                  <a:lnTo>
                    <a:pt x="152400" y="2336800"/>
                  </a:lnTo>
                  <a:cubicBezTo>
                    <a:pt x="68232" y="2336800"/>
                    <a:pt x="0" y="2268568"/>
                    <a:pt x="0" y="218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5E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1120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1752600"/>
            <a:ext cx="5334000" cy="76200"/>
            <a:chOff x="0" y="0"/>
            <a:chExt cx="7112000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12000" cy="101600"/>
            </a:xfrm>
            <a:custGeom>
              <a:avLst/>
              <a:gdLst/>
              <a:ahLst/>
              <a:cxnLst/>
              <a:rect l="l" t="t" r="r" b="b"/>
              <a:pathLst>
                <a:path w="7112000" h="101600">
                  <a:moveTo>
                    <a:pt x="50800" y="0"/>
                  </a:moveTo>
                  <a:lnTo>
                    <a:pt x="7061200" y="0"/>
                  </a:lnTo>
                  <a:cubicBezTo>
                    <a:pt x="7089256" y="0"/>
                    <a:pt x="7112000" y="22744"/>
                    <a:pt x="7112000" y="50800"/>
                  </a:cubicBezTo>
                  <a:cubicBezTo>
                    <a:pt x="7112000" y="78856"/>
                    <a:pt x="7089256" y="101600"/>
                    <a:pt x="7061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A9C9F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112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77000" y="1752600"/>
            <a:ext cx="5334000" cy="1752600"/>
            <a:chOff x="0" y="0"/>
            <a:chExt cx="7112000" cy="2336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12000" cy="2336800"/>
            </a:xfrm>
            <a:custGeom>
              <a:avLst/>
              <a:gdLst/>
              <a:ahLst/>
              <a:cxnLst/>
              <a:rect l="l" t="t" r="r" b="b"/>
              <a:pathLst>
                <a:path w="7112000" h="2336800">
                  <a:moveTo>
                    <a:pt x="152400" y="0"/>
                  </a:moveTo>
                  <a:lnTo>
                    <a:pt x="6959600" y="0"/>
                  </a:lnTo>
                  <a:cubicBezTo>
                    <a:pt x="7043769" y="0"/>
                    <a:pt x="7112000" y="68232"/>
                    <a:pt x="7112000" y="152400"/>
                  </a:cubicBezTo>
                  <a:lnTo>
                    <a:pt x="7112000" y="2184400"/>
                  </a:lnTo>
                  <a:cubicBezTo>
                    <a:pt x="7112000" y="2268568"/>
                    <a:pt x="7043769" y="2336800"/>
                    <a:pt x="6959600" y="2336800"/>
                  </a:cubicBezTo>
                  <a:lnTo>
                    <a:pt x="152400" y="2336800"/>
                  </a:lnTo>
                  <a:cubicBezTo>
                    <a:pt x="68232" y="2336800"/>
                    <a:pt x="0" y="2268568"/>
                    <a:pt x="0" y="218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5E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1120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77000" y="1752600"/>
            <a:ext cx="5334000" cy="76200"/>
            <a:chOff x="0" y="0"/>
            <a:chExt cx="7112000" cy="101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12000" cy="101600"/>
            </a:xfrm>
            <a:custGeom>
              <a:avLst/>
              <a:gdLst/>
              <a:ahLst/>
              <a:cxnLst/>
              <a:rect l="l" t="t" r="r" b="b"/>
              <a:pathLst>
                <a:path w="7112000" h="101600">
                  <a:moveTo>
                    <a:pt x="50800" y="0"/>
                  </a:moveTo>
                  <a:lnTo>
                    <a:pt x="7061200" y="0"/>
                  </a:lnTo>
                  <a:cubicBezTo>
                    <a:pt x="7089256" y="0"/>
                    <a:pt x="7112000" y="22744"/>
                    <a:pt x="7112000" y="50800"/>
                  </a:cubicBezTo>
                  <a:cubicBezTo>
                    <a:pt x="7112000" y="78856"/>
                    <a:pt x="7089256" y="101600"/>
                    <a:pt x="7061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F6FC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112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39600" y="1752600"/>
            <a:ext cx="5334000" cy="1752600"/>
            <a:chOff x="0" y="0"/>
            <a:chExt cx="7112000" cy="2336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12000" cy="2336800"/>
            </a:xfrm>
            <a:custGeom>
              <a:avLst/>
              <a:gdLst/>
              <a:ahLst/>
              <a:cxnLst/>
              <a:rect l="l" t="t" r="r" b="b"/>
              <a:pathLst>
                <a:path w="7112000" h="2336800">
                  <a:moveTo>
                    <a:pt x="152400" y="0"/>
                  </a:moveTo>
                  <a:lnTo>
                    <a:pt x="6959600" y="0"/>
                  </a:lnTo>
                  <a:cubicBezTo>
                    <a:pt x="7043769" y="0"/>
                    <a:pt x="7112000" y="68232"/>
                    <a:pt x="7112000" y="152400"/>
                  </a:cubicBezTo>
                  <a:lnTo>
                    <a:pt x="7112000" y="2184400"/>
                  </a:lnTo>
                  <a:cubicBezTo>
                    <a:pt x="7112000" y="2268568"/>
                    <a:pt x="7043769" y="2336800"/>
                    <a:pt x="6959600" y="2336800"/>
                  </a:cubicBezTo>
                  <a:lnTo>
                    <a:pt x="152400" y="2336800"/>
                  </a:lnTo>
                  <a:cubicBezTo>
                    <a:pt x="68232" y="2336800"/>
                    <a:pt x="0" y="2268568"/>
                    <a:pt x="0" y="218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CE5E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1120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039600" y="1752600"/>
            <a:ext cx="5334000" cy="76200"/>
            <a:chOff x="0" y="0"/>
            <a:chExt cx="7112000" cy="101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12000" cy="101600"/>
            </a:xfrm>
            <a:custGeom>
              <a:avLst/>
              <a:gdLst/>
              <a:ahLst/>
              <a:cxnLst/>
              <a:rect l="l" t="t" r="r" b="b"/>
              <a:pathLst>
                <a:path w="7112000" h="101600">
                  <a:moveTo>
                    <a:pt x="50800" y="0"/>
                  </a:moveTo>
                  <a:lnTo>
                    <a:pt x="7061200" y="0"/>
                  </a:lnTo>
                  <a:cubicBezTo>
                    <a:pt x="7089256" y="0"/>
                    <a:pt x="7112000" y="22744"/>
                    <a:pt x="7112000" y="50800"/>
                  </a:cubicBezTo>
                  <a:cubicBezTo>
                    <a:pt x="7112000" y="78856"/>
                    <a:pt x="7089256" y="101600"/>
                    <a:pt x="7061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A9C9F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7112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81100" y="2057400"/>
            <a:ext cx="371475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71B3A"/>
                </a:solidFill>
                <a:latin typeface="Garet Bold"/>
                <a:ea typeface="Garet Bold"/>
                <a:cs typeface="Garet Bold"/>
                <a:sym typeface="Garet Bold"/>
              </a:rPr>
              <a:t>Full reference task — PASS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914900" y="2085975"/>
            <a:ext cx="1066800" cy="304800"/>
            <a:chOff x="0" y="0"/>
            <a:chExt cx="1422400" cy="406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22400" cy="406400"/>
            </a:xfrm>
            <a:custGeom>
              <a:avLst/>
              <a:gdLst/>
              <a:ahLst/>
              <a:cxnLst/>
              <a:rect l="l" t="t" r="r" b="b"/>
              <a:pathLst>
                <a:path w="1422400" h="406400">
                  <a:moveTo>
                    <a:pt x="203200" y="0"/>
                  </a:moveTo>
                  <a:lnTo>
                    <a:pt x="1219200" y="0"/>
                  </a:lnTo>
                  <a:cubicBezTo>
                    <a:pt x="1331424" y="0"/>
                    <a:pt x="1422400" y="90976"/>
                    <a:pt x="1422400" y="203200"/>
                  </a:cubicBezTo>
                  <a:cubicBezTo>
                    <a:pt x="1422400" y="315424"/>
                    <a:pt x="1331424" y="406400"/>
                    <a:pt x="1219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F3F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14224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1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VERIFIED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81100" y="2543175"/>
            <a:ext cx="47625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Cup right +25 mm, fork left −25 mm, plate preserved.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43700" y="1952625"/>
            <a:ext cx="238125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>
                <a:solidFill>
                  <a:srgbClr val="2F6FCE"/>
                </a:solidFill>
                <a:latin typeface="Garet Bold"/>
                <a:ea typeface="Garet Bold"/>
                <a:cs typeface="Garet Bold"/>
                <a:sym typeface="Garet Bold"/>
              </a:rPr>
              <a:t>15.07 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43700" y="2419350"/>
            <a:ext cx="2667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71B3A"/>
                </a:solidFill>
                <a:latin typeface="Garet Bold"/>
                <a:ea typeface="Garet Bold"/>
                <a:cs typeface="Garet Bold"/>
                <a:sym typeface="Garet Bold"/>
              </a:rPr>
              <a:t>Safety horizon —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477500" y="2085975"/>
            <a:ext cx="1066800" cy="304800"/>
            <a:chOff x="0" y="0"/>
            <a:chExt cx="1422400" cy="406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22400" cy="406400"/>
            </a:xfrm>
            <a:custGeom>
              <a:avLst/>
              <a:gdLst/>
              <a:ahLst/>
              <a:cxnLst/>
              <a:rect l="l" t="t" r="r" b="b"/>
              <a:pathLst>
                <a:path w="1422400" h="406400">
                  <a:moveTo>
                    <a:pt x="203200" y="0"/>
                  </a:moveTo>
                  <a:lnTo>
                    <a:pt x="1219200" y="0"/>
                  </a:lnTo>
                  <a:cubicBezTo>
                    <a:pt x="1331424" y="0"/>
                    <a:pt x="1422400" y="90976"/>
                    <a:pt x="1422400" y="203200"/>
                  </a:cubicBezTo>
                  <a:cubicBezTo>
                    <a:pt x="1422400" y="315424"/>
                    <a:pt x="1331424" y="406400"/>
                    <a:pt x="1219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F3F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4224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1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VERIFIED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743700" y="2809875"/>
            <a:ext cx="476250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Final guard event: development_table / right_camera_box2</a:t>
            </a:r>
          </a:p>
          <a:p>
            <a:pPr marL="0" lvl="0" indent="0" algn="l">
              <a:lnSpc>
                <a:spcPts val="195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task_success = False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06300" y="2057400"/>
            <a:ext cx="371475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71B3A"/>
                </a:solidFill>
                <a:latin typeface="Garet Bold"/>
                <a:ea typeface="Garet Bold"/>
                <a:cs typeface="Garet Bold"/>
                <a:sym typeface="Garet Bold"/>
              </a:rPr>
              <a:t>OpenVINO / Intel — PASS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6040100" y="2085975"/>
            <a:ext cx="1066800" cy="304800"/>
            <a:chOff x="0" y="0"/>
            <a:chExt cx="1422400" cy="406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22400" cy="406400"/>
            </a:xfrm>
            <a:custGeom>
              <a:avLst/>
              <a:gdLst/>
              <a:ahLst/>
              <a:cxnLst/>
              <a:rect l="l" t="t" r="r" b="b"/>
              <a:pathLst>
                <a:path w="1422400" h="406400">
                  <a:moveTo>
                    <a:pt x="203200" y="0"/>
                  </a:moveTo>
                  <a:lnTo>
                    <a:pt x="1219200" y="0"/>
                  </a:lnTo>
                  <a:cubicBezTo>
                    <a:pt x="1331424" y="0"/>
                    <a:pt x="1422400" y="90976"/>
                    <a:pt x="1422400" y="203200"/>
                  </a:cubicBezTo>
                  <a:cubicBezTo>
                    <a:pt x="1422400" y="315424"/>
                    <a:pt x="1331424" y="406400"/>
                    <a:pt x="1219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F3F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4224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1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VERIFIED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306300" y="2552700"/>
            <a:ext cx="4762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Final FP32 export, standalone IE, Intel CPU inference, numerical parity verified.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372600" y="8667750"/>
            <a:ext cx="7696200" cy="9525"/>
            <a:chOff x="0" y="0"/>
            <a:chExt cx="10261600" cy="127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261600" cy="12700"/>
            </a:xfrm>
            <a:custGeom>
              <a:avLst/>
              <a:gdLst/>
              <a:ahLst/>
              <a:cxnLst/>
              <a:rect l="l" t="t" r="r" b="b"/>
              <a:pathLst>
                <a:path w="10261600" h="12700">
                  <a:moveTo>
                    <a:pt x="0" y="0"/>
                  </a:moveTo>
                  <a:lnTo>
                    <a:pt x="10261600" y="0"/>
                  </a:lnTo>
                  <a:lnTo>
                    <a:pt x="10261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CE5E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2616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372600" y="8858250"/>
            <a:ext cx="40005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71B3A"/>
                </a:solidFill>
                <a:latin typeface="Garet Bold"/>
                <a:ea typeface="Garet Bold"/>
                <a:cs typeface="Garet Bold"/>
                <a:sym typeface="Garet Bold"/>
              </a:rPr>
              <a:t>Claim only what is verified.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8953500" y="3665537"/>
            <a:ext cx="8305800" cy="5715000"/>
            <a:chOff x="0" y="0"/>
            <a:chExt cx="11074400" cy="76200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11074400" cy="7620000"/>
              <a:chOff x="0" y="0"/>
              <a:chExt cx="11074400" cy="7620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10744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11074400" h="7620000">
                    <a:moveTo>
                      <a:pt x="177800" y="0"/>
                    </a:moveTo>
                    <a:lnTo>
                      <a:pt x="10896600" y="0"/>
                    </a:lnTo>
                    <a:cubicBezTo>
                      <a:pt x="10994796" y="0"/>
                      <a:pt x="11074400" y="79604"/>
                      <a:pt x="11074400" y="177800"/>
                    </a:cubicBezTo>
                    <a:lnTo>
                      <a:pt x="11074400" y="7442200"/>
                    </a:lnTo>
                    <a:cubicBezTo>
                      <a:pt x="11074400" y="7540396"/>
                      <a:pt x="10994796" y="7620000"/>
                      <a:pt x="10896600" y="7620000"/>
                    </a:cubicBezTo>
                    <a:lnTo>
                      <a:pt x="177800" y="7620000"/>
                    </a:lnTo>
                    <a:cubicBezTo>
                      <a:pt x="79604" y="7620000"/>
                      <a:pt x="0" y="7540396"/>
                      <a:pt x="0" y="744220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4F7FB"/>
              </a:solidFill>
              <a:ln w="9525" cap="sq">
                <a:solidFill>
                  <a:srgbClr val="DCE5EF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1074400" cy="765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406400" y="358775"/>
              <a:ext cx="7620000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71B3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Guarded closed-loop execution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9245600" y="457200"/>
              <a:ext cx="1422400" cy="406400"/>
              <a:chOff x="0" y="0"/>
              <a:chExt cx="1422400" cy="4064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422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06400">
                    <a:moveTo>
                      <a:pt x="203200" y="0"/>
                    </a:moveTo>
                    <a:lnTo>
                      <a:pt x="1219200" y="0"/>
                    </a:lnTo>
                    <a:cubicBezTo>
                      <a:pt x="1331424" y="0"/>
                      <a:pt x="1422400" y="90976"/>
                      <a:pt x="1422400" y="203200"/>
                    </a:cubicBezTo>
                    <a:cubicBezTo>
                      <a:pt x="1422400" y="315424"/>
                      <a:pt x="1331424" y="406400"/>
                      <a:pt x="12192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F3DF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19050"/>
                <a:ext cx="1422400" cy="425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A66A00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GUARDED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406400" y="990600"/>
              <a:ext cx="10261600" cy="3810000"/>
              <a:chOff x="0" y="0"/>
              <a:chExt cx="10261600" cy="3810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02616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10261600" h="3810000">
                    <a:moveTo>
                      <a:pt x="127000" y="0"/>
                    </a:moveTo>
                    <a:lnTo>
                      <a:pt x="10134600" y="0"/>
                    </a:lnTo>
                    <a:cubicBezTo>
                      <a:pt x="10204740" y="0"/>
                      <a:pt x="10261600" y="56860"/>
                      <a:pt x="10261600" y="127000"/>
                    </a:cubicBezTo>
                    <a:lnTo>
                      <a:pt x="10261600" y="3683000"/>
                    </a:lnTo>
                    <a:cubicBezTo>
                      <a:pt x="10261600" y="3753140"/>
                      <a:pt x="10204740" y="3810000"/>
                      <a:pt x="10134600" y="3810000"/>
                    </a:cubicBezTo>
                    <a:lnTo>
                      <a:pt x="127000" y="3810000"/>
                    </a:lnTo>
                    <a:cubicBezTo>
                      <a:pt x="56860" y="3810000"/>
                      <a:pt x="0" y="3753140"/>
                      <a:pt x="0" y="368300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CE5EF"/>
                </a:solidFill>
                <a:prstDash val="solid"/>
                <a:miter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102616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406400" y="5086350"/>
              <a:ext cx="10261600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25"/>
                </a:lnSpc>
                <a:spcBef>
                  <a:spcPct val="0"/>
                </a:spcBef>
              </a:pPr>
              <a:r>
                <a:rPr lang="en-US" sz="1500" u="none" strike="noStrike">
                  <a:solidFill>
                    <a:srgbClr val="5B6B7A"/>
                  </a:solidFill>
                  <a:latin typeface="Garet"/>
                  <a:ea typeface="Garet"/>
                  <a:cs typeface="Garet"/>
                  <a:sym typeface="Garet"/>
                </a:rPr>
                <a:t>The final learned rollout did not complete the task. Final guard event: development_table / right_camera_box2.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14400" y="3687763"/>
            <a:ext cx="47625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F6FCE"/>
                </a:solidFill>
                <a:latin typeface="Garet Bold"/>
                <a:ea typeface="Garet Bold"/>
                <a:cs typeface="Garet Bold"/>
                <a:sym typeface="Garet Bold"/>
              </a:rPr>
              <a:t>7.77 s → 11.77 s → 14.32 s → 15.07 s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533400" y="4248150"/>
            <a:ext cx="7620000" cy="5715000"/>
            <a:chOff x="0" y="0"/>
            <a:chExt cx="10160000" cy="7620000"/>
          </a:xfrm>
        </p:grpSpPr>
        <p:grpSp>
          <p:nvGrpSpPr>
            <p:cNvPr id="60" name="Group 60"/>
            <p:cNvGrpSpPr/>
            <p:nvPr/>
          </p:nvGrpSpPr>
          <p:grpSpPr>
            <a:xfrm>
              <a:off x="0" y="0"/>
              <a:ext cx="10160000" cy="7620000"/>
              <a:chOff x="0" y="0"/>
              <a:chExt cx="10160000" cy="76200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0160000" cy="7620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7620000">
                    <a:moveTo>
                      <a:pt x="177800" y="0"/>
                    </a:moveTo>
                    <a:lnTo>
                      <a:pt x="9982200" y="0"/>
                    </a:lnTo>
                    <a:cubicBezTo>
                      <a:pt x="10080396" y="0"/>
                      <a:pt x="10160000" y="79604"/>
                      <a:pt x="10160000" y="177800"/>
                    </a:cubicBezTo>
                    <a:lnTo>
                      <a:pt x="10160000" y="7442200"/>
                    </a:lnTo>
                    <a:cubicBezTo>
                      <a:pt x="10160000" y="7540396"/>
                      <a:pt x="10080396" y="7620000"/>
                      <a:pt x="9982200" y="7620000"/>
                    </a:cubicBezTo>
                    <a:lnTo>
                      <a:pt x="177800" y="7620000"/>
                    </a:lnTo>
                    <a:cubicBezTo>
                      <a:pt x="79604" y="7620000"/>
                      <a:pt x="0" y="7540396"/>
                      <a:pt x="0" y="7442200"/>
                    </a:cubicBezTo>
                    <a:lnTo>
                      <a:pt x="0" y="177800"/>
                    </a:ln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4F7FB"/>
              </a:solidFill>
              <a:ln w="9525" cap="sq">
                <a:solidFill>
                  <a:srgbClr val="DCE5EF"/>
                </a:solidFill>
                <a:prstDash val="solid"/>
                <a:miter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38100"/>
                <a:ext cx="10160000" cy="765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8255000" y="466725"/>
              <a:ext cx="1270000" cy="26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b="1">
                  <a:solidFill>
                    <a:srgbClr val="5B6B7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STATUS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406400" y="914400"/>
              <a:ext cx="9347200" cy="12700"/>
              <a:chOff x="0" y="0"/>
              <a:chExt cx="9347200" cy="127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93472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347200" h="12700">
                    <a:moveTo>
                      <a:pt x="0" y="0"/>
                    </a:moveTo>
                    <a:lnTo>
                      <a:pt x="9347200" y="0"/>
                    </a:lnTo>
                    <a:lnTo>
                      <a:pt x="93472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DCE5EF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9347200" cy="50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406400" y="1206500"/>
              <a:ext cx="355600" cy="355600"/>
              <a:chOff x="0" y="0"/>
              <a:chExt cx="355600" cy="3556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0" y="177800"/>
                    </a:moveTo>
                    <a:cubicBezTo>
                      <a:pt x="0" y="275996"/>
                      <a:pt x="79604" y="355600"/>
                      <a:pt x="177800" y="355600"/>
                    </a:cubicBezTo>
                    <a:cubicBezTo>
                      <a:pt x="275996" y="355600"/>
                      <a:pt x="355600" y="275996"/>
                      <a:pt x="355600" y="177800"/>
                    </a:cubicBezTo>
                    <a:cubicBezTo>
                      <a:pt x="355600" y="79604"/>
                      <a:pt x="275996" y="0"/>
                      <a:pt x="177800" y="0"/>
                    </a:cubicBezTo>
                    <a:cubicBezTo>
                      <a:pt x="79604" y="0"/>
                      <a:pt x="0" y="79604"/>
                      <a:pt x="0" y="17780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3556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482600" y="1216025"/>
              <a:ext cx="2286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5200" y="1181100"/>
              <a:ext cx="584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1B3A"/>
                  </a:solidFill>
                  <a:latin typeface="Garet"/>
                  <a:ea typeface="Garet"/>
                  <a:cs typeface="Garet"/>
                  <a:sym typeface="Garet"/>
                </a:rPr>
                <a:t>3-camera VLA pipeline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8128000" y="1193800"/>
              <a:ext cx="1625600" cy="431800"/>
              <a:chOff x="0" y="0"/>
              <a:chExt cx="1625600" cy="431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16256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31800">
                    <a:moveTo>
                      <a:pt x="215900" y="0"/>
                    </a:moveTo>
                    <a:lnTo>
                      <a:pt x="1409700" y="0"/>
                    </a:lnTo>
                    <a:cubicBezTo>
                      <a:pt x="1528938" y="0"/>
                      <a:pt x="1625600" y="96662"/>
                      <a:pt x="1625600" y="215900"/>
                    </a:cubicBezTo>
                    <a:cubicBezTo>
                      <a:pt x="1625600" y="335138"/>
                      <a:pt x="1528938" y="431800"/>
                      <a:pt x="1409700" y="431800"/>
                    </a:cubicBezTo>
                    <a:lnTo>
                      <a:pt x="215900" y="431800"/>
                    </a:lnTo>
                    <a:cubicBezTo>
                      <a:pt x="96662" y="431800"/>
                      <a:pt x="0" y="335138"/>
                      <a:pt x="0" y="215900"/>
                    </a:cubicBezTo>
                    <a:cubicBezTo>
                      <a:pt x="0" y="96662"/>
                      <a:pt x="96662" y="0"/>
                      <a:pt x="215900" y="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19050"/>
                <a:ext cx="1625600" cy="450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2F8F83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VERIFIED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406400" y="1841500"/>
              <a:ext cx="9347200" cy="12700"/>
              <a:chOff x="0" y="0"/>
              <a:chExt cx="9347200" cy="127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93472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347200" h="12700">
                    <a:moveTo>
                      <a:pt x="0" y="0"/>
                    </a:moveTo>
                    <a:lnTo>
                      <a:pt x="9347200" y="0"/>
                    </a:lnTo>
                    <a:lnTo>
                      <a:pt x="93472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DCE5EF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38100"/>
                <a:ext cx="9347200" cy="50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406400" y="2057400"/>
              <a:ext cx="355600" cy="355600"/>
              <a:chOff x="0" y="0"/>
              <a:chExt cx="355600" cy="3556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0" y="177800"/>
                    </a:moveTo>
                    <a:cubicBezTo>
                      <a:pt x="0" y="275996"/>
                      <a:pt x="79604" y="355600"/>
                      <a:pt x="177800" y="355600"/>
                    </a:cubicBezTo>
                    <a:cubicBezTo>
                      <a:pt x="275996" y="355600"/>
                      <a:pt x="355600" y="275996"/>
                      <a:pt x="355600" y="177800"/>
                    </a:cubicBezTo>
                    <a:cubicBezTo>
                      <a:pt x="355600" y="79604"/>
                      <a:pt x="275996" y="0"/>
                      <a:pt x="177800" y="0"/>
                    </a:cubicBezTo>
                    <a:cubicBezTo>
                      <a:pt x="79604" y="0"/>
                      <a:pt x="0" y="79604"/>
                      <a:pt x="0" y="17780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38100"/>
                <a:ext cx="3556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482600" y="2066925"/>
              <a:ext cx="2286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✓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200" y="2032000"/>
              <a:ext cx="584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1B3A"/>
                  </a:solidFill>
                  <a:latin typeface="Garet"/>
                  <a:ea typeface="Garet"/>
                  <a:cs typeface="Garet"/>
                  <a:sym typeface="Garet"/>
                </a:rPr>
                <a:t>12-joint learned control</a:t>
              </a:r>
            </a:p>
          </p:txBody>
        </p:sp>
        <p:grpSp>
          <p:nvGrpSpPr>
            <p:cNvPr id="83" name="Group 83"/>
            <p:cNvGrpSpPr/>
            <p:nvPr/>
          </p:nvGrpSpPr>
          <p:grpSpPr>
            <a:xfrm>
              <a:off x="8128000" y="2044700"/>
              <a:ext cx="1625600" cy="431800"/>
              <a:chOff x="0" y="0"/>
              <a:chExt cx="1625600" cy="431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16256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31800">
                    <a:moveTo>
                      <a:pt x="215900" y="0"/>
                    </a:moveTo>
                    <a:lnTo>
                      <a:pt x="1409700" y="0"/>
                    </a:lnTo>
                    <a:cubicBezTo>
                      <a:pt x="1528938" y="0"/>
                      <a:pt x="1625600" y="96662"/>
                      <a:pt x="1625600" y="215900"/>
                    </a:cubicBezTo>
                    <a:cubicBezTo>
                      <a:pt x="1625600" y="335138"/>
                      <a:pt x="1528938" y="431800"/>
                      <a:pt x="1409700" y="431800"/>
                    </a:cubicBezTo>
                    <a:lnTo>
                      <a:pt x="215900" y="431800"/>
                    </a:lnTo>
                    <a:cubicBezTo>
                      <a:pt x="96662" y="431800"/>
                      <a:pt x="0" y="335138"/>
                      <a:pt x="0" y="215900"/>
                    </a:cubicBezTo>
                    <a:cubicBezTo>
                      <a:pt x="0" y="96662"/>
                      <a:pt x="96662" y="0"/>
                      <a:pt x="215900" y="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0" y="-19050"/>
                <a:ext cx="1625600" cy="450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2F8F83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VERIFIED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406400" y="2692400"/>
              <a:ext cx="9347200" cy="12700"/>
              <a:chOff x="0" y="0"/>
              <a:chExt cx="9347200" cy="127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93472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347200" h="12700">
                    <a:moveTo>
                      <a:pt x="0" y="0"/>
                    </a:moveTo>
                    <a:lnTo>
                      <a:pt x="9347200" y="0"/>
                    </a:lnTo>
                    <a:lnTo>
                      <a:pt x="93472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DCE5EF"/>
              </a:solid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0" y="-38100"/>
                <a:ext cx="9347200" cy="50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406400" y="2908300"/>
              <a:ext cx="355600" cy="355600"/>
              <a:chOff x="0" y="0"/>
              <a:chExt cx="355600" cy="3556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0" y="177800"/>
                    </a:moveTo>
                    <a:cubicBezTo>
                      <a:pt x="0" y="275996"/>
                      <a:pt x="79604" y="355600"/>
                      <a:pt x="177800" y="355600"/>
                    </a:cubicBezTo>
                    <a:cubicBezTo>
                      <a:pt x="275996" y="355600"/>
                      <a:pt x="355600" y="275996"/>
                      <a:pt x="355600" y="177800"/>
                    </a:cubicBezTo>
                    <a:cubicBezTo>
                      <a:pt x="355600" y="79604"/>
                      <a:pt x="275996" y="0"/>
                      <a:pt x="177800" y="0"/>
                    </a:cubicBezTo>
                    <a:cubicBezTo>
                      <a:pt x="79604" y="0"/>
                      <a:pt x="0" y="79604"/>
                      <a:pt x="0" y="17780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0" y="-38100"/>
                <a:ext cx="3556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2" name="TextBox 92"/>
            <p:cNvSpPr txBox="1"/>
            <p:nvPr/>
          </p:nvSpPr>
          <p:spPr>
            <a:xfrm>
              <a:off x="482600" y="2917825"/>
              <a:ext cx="2286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✓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65200" y="2882900"/>
              <a:ext cx="584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1B3A"/>
                  </a:solidFill>
                  <a:latin typeface="Garet"/>
                  <a:ea typeface="Garet"/>
                  <a:cs typeface="Garet"/>
                  <a:sym typeface="Garet"/>
                </a:rPr>
                <a:t>Runtime safety supervisor</a:t>
              </a:r>
            </a:p>
          </p:txBody>
        </p:sp>
        <p:grpSp>
          <p:nvGrpSpPr>
            <p:cNvPr id="94" name="Group 94"/>
            <p:cNvGrpSpPr/>
            <p:nvPr/>
          </p:nvGrpSpPr>
          <p:grpSpPr>
            <a:xfrm>
              <a:off x="8128000" y="2895600"/>
              <a:ext cx="1625600" cy="431800"/>
              <a:chOff x="0" y="0"/>
              <a:chExt cx="1625600" cy="431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16256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31800">
                    <a:moveTo>
                      <a:pt x="215900" y="0"/>
                    </a:moveTo>
                    <a:lnTo>
                      <a:pt x="1409700" y="0"/>
                    </a:lnTo>
                    <a:cubicBezTo>
                      <a:pt x="1528938" y="0"/>
                      <a:pt x="1625600" y="96662"/>
                      <a:pt x="1625600" y="215900"/>
                    </a:cubicBezTo>
                    <a:cubicBezTo>
                      <a:pt x="1625600" y="335138"/>
                      <a:pt x="1528938" y="431800"/>
                      <a:pt x="1409700" y="431800"/>
                    </a:cubicBezTo>
                    <a:lnTo>
                      <a:pt x="215900" y="431800"/>
                    </a:lnTo>
                    <a:cubicBezTo>
                      <a:pt x="96662" y="431800"/>
                      <a:pt x="0" y="335138"/>
                      <a:pt x="0" y="215900"/>
                    </a:cubicBezTo>
                    <a:cubicBezTo>
                      <a:pt x="0" y="96662"/>
                      <a:pt x="96662" y="0"/>
                      <a:pt x="215900" y="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0" y="-19050"/>
                <a:ext cx="1625600" cy="450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2F8F83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VERIFIED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406400" y="3543300"/>
              <a:ext cx="9347200" cy="12700"/>
              <a:chOff x="0" y="0"/>
              <a:chExt cx="9347200" cy="127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93472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347200" h="12700">
                    <a:moveTo>
                      <a:pt x="0" y="0"/>
                    </a:moveTo>
                    <a:lnTo>
                      <a:pt x="9347200" y="0"/>
                    </a:lnTo>
                    <a:lnTo>
                      <a:pt x="93472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DCE5EF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0" y="-38100"/>
                <a:ext cx="9347200" cy="50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406400" y="3759200"/>
              <a:ext cx="355600" cy="355600"/>
              <a:chOff x="0" y="0"/>
              <a:chExt cx="355600" cy="3556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0" y="177800"/>
                    </a:moveTo>
                    <a:cubicBezTo>
                      <a:pt x="0" y="275996"/>
                      <a:pt x="79604" y="355600"/>
                      <a:pt x="177800" y="355600"/>
                    </a:cubicBezTo>
                    <a:cubicBezTo>
                      <a:pt x="275996" y="355600"/>
                      <a:pt x="355600" y="275996"/>
                      <a:pt x="355600" y="177800"/>
                    </a:cubicBezTo>
                    <a:cubicBezTo>
                      <a:pt x="355600" y="79604"/>
                      <a:pt x="275996" y="0"/>
                      <a:pt x="177800" y="0"/>
                    </a:cubicBezTo>
                    <a:cubicBezTo>
                      <a:pt x="79604" y="0"/>
                      <a:pt x="0" y="79604"/>
                      <a:pt x="0" y="17780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0" y="-38100"/>
                <a:ext cx="3556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3" name="TextBox 103"/>
            <p:cNvSpPr txBox="1"/>
            <p:nvPr/>
          </p:nvSpPr>
          <p:spPr>
            <a:xfrm>
              <a:off x="482600" y="3768725"/>
              <a:ext cx="2286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✓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65200" y="3733800"/>
              <a:ext cx="584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1B3A"/>
                  </a:solidFill>
                  <a:latin typeface="Garet"/>
                  <a:ea typeface="Garet"/>
                  <a:cs typeface="Garet"/>
                  <a:sym typeface="Garet"/>
                </a:rPr>
                <a:t>Recovery-oriented training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8128000" y="3746500"/>
              <a:ext cx="1625600" cy="431800"/>
              <a:chOff x="0" y="0"/>
              <a:chExt cx="1625600" cy="431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16256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31800">
                    <a:moveTo>
                      <a:pt x="215900" y="0"/>
                    </a:moveTo>
                    <a:lnTo>
                      <a:pt x="1409700" y="0"/>
                    </a:lnTo>
                    <a:cubicBezTo>
                      <a:pt x="1528938" y="0"/>
                      <a:pt x="1625600" y="96662"/>
                      <a:pt x="1625600" y="215900"/>
                    </a:cubicBezTo>
                    <a:cubicBezTo>
                      <a:pt x="1625600" y="335138"/>
                      <a:pt x="1528938" y="431800"/>
                      <a:pt x="1409700" y="431800"/>
                    </a:cubicBezTo>
                    <a:lnTo>
                      <a:pt x="215900" y="431800"/>
                    </a:lnTo>
                    <a:cubicBezTo>
                      <a:pt x="96662" y="431800"/>
                      <a:pt x="0" y="335138"/>
                      <a:pt x="0" y="215900"/>
                    </a:cubicBezTo>
                    <a:cubicBezTo>
                      <a:pt x="0" y="96662"/>
                      <a:pt x="96662" y="0"/>
                      <a:pt x="215900" y="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0" y="-19050"/>
                <a:ext cx="1625600" cy="450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2F8F83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VERIFIED</a:t>
                </a: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406400" y="4394200"/>
              <a:ext cx="9347200" cy="12700"/>
              <a:chOff x="0" y="0"/>
              <a:chExt cx="9347200" cy="127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93472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347200" h="12700">
                    <a:moveTo>
                      <a:pt x="0" y="0"/>
                    </a:moveTo>
                    <a:lnTo>
                      <a:pt x="9347200" y="0"/>
                    </a:lnTo>
                    <a:lnTo>
                      <a:pt x="93472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DCE5EF"/>
              </a:solid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0" y="-38100"/>
                <a:ext cx="9347200" cy="50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406400" y="4610100"/>
              <a:ext cx="355600" cy="355600"/>
              <a:chOff x="0" y="0"/>
              <a:chExt cx="355600" cy="3556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0" y="177800"/>
                    </a:moveTo>
                    <a:cubicBezTo>
                      <a:pt x="0" y="275996"/>
                      <a:pt x="79604" y="355600"/>
                      <a:pt x="177800" y="355600"/>
                    </a:cubicBezTo>
                    <a:cubicBezTo>
                      <a:pt x="275996" y="355600"/>
                      <a:pt x="355600" y="275996"/>
                      <a:pt x="355600" y="177800"/>
                    </a:cubicBezTo>
                    <a:cubicBezTo>
                      <a:pt x="355600" y="79604"/>
                      <a:pt x="275996" y="0"/>
                      <a:pt x="177800" y="0"/>
                    </a:cubicBezTo>
                    <a:cubicBezTo>
                      <a:pt x="79604" y="0"/>
                      <a:pt x="0" y="79604"/>
                      <a:pt x="0" y="17780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0" y="-38100"/>
                <a:ext cx="3556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4" name="TextBox 114"/>
            <p:cNvSpPr txBox="1"/>
            <p:nvPr/>
          </p:nvSpPr>
          <p:spPr>
            <a:xfrm>
              <a:off x="482600" y="4619625"/>
              <a:ext cx="2286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2F8F8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✓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65200" y="4584700"/>
              <a:ext cx="584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1B3A"/>
                  </a:solidFill>
                  <a:latin typeface="Garet"/>
                  <a:ea typeface="Garet"/>
                  <a:cs typeface="Garet"/>
                  <a:sym typeface="Garet"/>
                </a:rPr>
                <a:t>OpenVINO deployment path</a:t>
              </a:r>
            </a:p>
          </p:txBody>
        </p:sp>
        <p:grpSp>
          <p:nvGrpSpPr>
            <p:cNvPr id="116" name="Group 116"/>
            <p:cNvGrpSpPr/>
            <p:nvPr/>
          </p:nvGrpSpPr>
          <p:grpSpPr>
            <a:xfrm>
              <a:off x="8128000" y="4597400"/>
              <a:ext cx="1625600" cy="431800"/>
              <a:chOff x="0" y="0"/>
              <a:chExt cx="1625600" cy="43180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16256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31800">
                    <a:moveTo>
                      <a:pt x="215900" y="0"/>
                    </a:moveTo>
                    <a:lnTo>
                      <a:pt x="1409700" y="0"/>
                    </a:lnTo>
                    <a:cubicBezTo>
                      <a:pt x="1528938" y="0"/>
                      <a:pt x="1625600" y="96662"/>
                      <a:pt x="1625600" y="215900"/>
                    </a:cubicBezTo>
                    <a:cubicBezTo>
                      <a:pt x="1625600" y="335138"/>
                      <a:pt x="1528938" y="431800"/>
                      <a:pt x="1409700" y="431800"/>
                    </a:cubicBezTo>
                    <a:lnTo>
                      <a:pt x="215900" y="431800"/>
                    </a:lnTo>
                    <a:cubicBezTo>
                      <a:pt x="96662" y="431800"/>
                      <a:pt x="0" y="335138"/>
                      <a:pt x="0" y="215900"/>
                    </a:cubicBezTo>
                    <a:cubicBezTo>
                      <a:pt x="0" y="96662"/>
                      <a:pt x="96662" y="0"/>
                      <a:pt x="215900" y="0"/>
                    </a:cubicBezTo>
                    <a:close/>
                  </a:path>
                </a:pathLst>
              </a:custGeom>
              <a:solidFill>
                <a:srgbClr val="E4F3F0"/>
              </a:solidFill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0" y="-19050"/>
                <a:ext cx="1625600" cy="450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2F8F83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VERIFIED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406400" y="5245100"/>
              <a:ext cx="9347200" cy="12700"/>
              <a:chOff x="0" y="0"/>
              <a:chExt cx="9347200" cy="1270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93472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347200" h="12700">
                    <a:moveTo>
                      <a:pt x="0" y="0"/>
                    </a:moveTo>
                    <a:lnTo>
                      <a:pt x="9347200" y="0"/>
                    </a:lnTo>
                    <a:lnTo>
                      <a:pt x="93472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DCE5EF"/>
              </a:solidFill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0" y="-38100"/>
                <a:ext cx="9347200" cy="50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406400" y="5461000"/>
              <a:ext cx="355600" cy="355600"/>
              <a:chOff x="0" y="0"/>
              <a:chExt cx="355600" cy="35560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3556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355600" h="355600">
                    <a:moveTo>
                      <a:pt x="0" y="177800"/>
                    </a:moveTo>
                    <a:cubicBezTo>
                      <a:pt x="0" y="275996"/>
                      <a:pt x="79604" y="355600"/>
                      <a:pt x="177800" y="355600"/>
                    </a:cubicBezTo>
                    <a:cubicBezTo>
                      <a:pt x="275996" y="355600"/>
                      <a:pt x="355600" y="275996"/>
                      <a:pt x="355600" y="177800"/>
                    </a:cubicBezTo>
                    <a:cubicBezTo>
                      <a:pt x="355600" y="79604"/>
                      <a:pt x="275996" y="0"/>
                      <a:pt x="177800" y="0"/>
                    </a:cubicBezTo>
                    <a:cubicBezTo>
                      <a:pt x="79604" y="0"/>
                      <a:pt x="0" y="79604"/>
                      <a:pt x="0" y="177800"/>
                    </a:cubicBezTo>
                    <a:close/>
                  </a:path>
                </a:pathLst>
              </a:custGeom>
              <a:solidFill>
                <a:srgbClr val="FFF3DF"/>
              </a:solidFill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0" y="-38100"/>
                <a:ext cx="355600" cy="393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5" name="TextBox 125"/>
            <p:cNvSpPr txBox="1"/>
            <p:nvPr/>
          </p:nvSpPr>
          <p:spPr>
            <a:xfrm>
              <a:off x="482600" y="5470525"/>
              <a:ext cx="2286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A66A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—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965200" y="5435600"/>
              <a:ext cx="584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71B3A"/>
                  </a:solidFill>
                  <a:latin typeface="Garet"/>
                  <a:ea typeface="Garet"/>
                  <a:cs typeface="Garet"/>
                  <a:sym typeface="Garet"/>
                </a:rPr>
                <a:t>Full learned end-to-end task</a:t>
              </a:r>
            </a:p>
          </p:txBody>
        </p:sp>
        <p:grpSp>
          <p:nvGrpSpPr>
            <p:cNvPr id="127" name="Group 127"/>
            <p:cNvGrpSpPr/>
            <p:nvPr/>
          </p:nvGrpSpPr>
          <p:grpSpPr>
            <a:xfrm>
              <a:off x="8128000" y="5448300"/>
              <a:ext cx="1600200" cy="431800"/>
              <a:chOff x="0" y="0"/>
              <a:chExt cx="1600200" cy="431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160020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431800">
                    <a:moveTo>
                      <a:pt x="215900" y="0"/>
                    </a:moveTo>
                    <a:lnTo>
                      <a:pt x="1384300" y="0"/>
                    </a:lnTo>
                    <a:cubicBezTo>
                      <a:pt x="1503538" y="0"/>
                      <a:pt x="1600200" y="96662"/>
                      <a:pt x="1600200" y="215900"/>
                    </a:cubicBezTo>
                    <a:cubicBezTo>
                      <a:pt x="1600200" y="335138"/>
                      <a:pt x="1503538" y="431800"/>
                      <a:pt x="1384300" y="431800"/>
                    </a:cubicBezTo>
                    <a:lnTo>
                      <a:pt x="215900" y="431800"/>
                    </a:lnTo>
                    <a:cubicBezTo>
                      <a:pt x="96662" y="431800"/>
                      <a:pt x="0" y="335138"/>
                      <a:pt x="0" y="215900"/>
                    </a:cubicBezTo>
                    <a:cubicBezTo>
                      <a:pt x="0" y="96662"/>
                      <a:pt x="96662" y="0"/>
                      <a:pt x="215900" y="0"/>
                    </a:cubicBezTo>
                    <a:close/>
                  </a:path>
                </a:pathLst>
              </a:custGeom>
              <a:solidFill>
                <a:srgbClr val="FFF3DF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0" y="-19050"/>
                <a:ext cx="1600200" cy="450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r>
                  <a:rPr lang="en-US" sz="1100" b="1">
                    <a:solidFill>
                      <a:srgbClr val="A66A00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NOT YET</a:t>
                </a:r>
              </a:p>
            </p:txBody>
          </p:sp>
        </p:grpSp>
        <p:sp>
          <p:nvSpPr>
            <p:cNvPr id="130" name="TextBox 130"/>
            <p:cNvSpPr txBox="1"/>
            <p:nvPr/>
          </p:nvSpPr>
          <p:spPr>
            <a:xfrm>
              <a:off x="406400" y="409575"/>
              <a:ext cx="6604000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 b="1">
                  <a:solidFill>
                    <a:srgbClr val="071B3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Verification checklist</a:t>
              </a:r>
            </a:p>
          </p:txBody>
        </p:sp>
        <p:grpSp>
          <p:nvGrpSpPr>
            <p:cNvPr id="131" name="Group 131"/>
            <p:cNvGrpSpPr/>
            <p:nvPr/>
          </p:nvGrpSpPr>
          <p:grpSpPr>
            <a:xfrm>
              <a:off x="406400" y="6223000"/>
              <a:ext cx="9347200" cy="1270000"/>
              <a:chOff x="0" y="0"/>
              <a:chExt cx="9347200" cy="127000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93472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9347200" h="1270000">
                    <a:moveTo>
                      <a:pt x="101600" y="0"/>
                    </a:moveTo>
                    <a:lnTo>
                      <a:pt x="9245600" y="0"/>
                    </a:lnTo>
                    <a:cubicBezTo>
                      <a:pt x="9301712" y="0"/>
                      <a:pt x="9347200" y="73368"/>
                      <a:pt x="9347200" y="163871"/>
                    </a:cubicBezTo>
                    <a:lnTo>
                      <a:pt x="9347200" y="1106129"/>
                    </a:lnTo>
                    <a:cubicBezTo>
                      <a:pt x="9347200" y="1196632"/>
                      <a:pt x="9301712" y="1270000"/>
                      <a:pt x="9245600" y="1270000"/>
                    </a:cubicBezTo>
                    <a:lnTo>
                      <a:pt x="101600" y="1270000"/>
                    </a:lnTo>
                    <a:cubicBezTo>
                      <a:pt x="45488" y="1270000"/>
                      <a:pt x="0" y="1196632"/>
                      <a:pt x="0" y="1106129"/>
                    </a:cubicBezTo>
                    <a:lnTo>
                      <a:pt x="0" y="163871"/>
                    </a:lnTo>
                    <a:cubicBezTo>
                      <a:pt x="0" y="73368"/>
                      <a:pt x="45488" y="0"/>
                      <a:pt x="101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F6FCE"/>
                </a:solidFill>
                <a:prstDash val="solid"/>
                <a:miter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0" y="-38100"/>
                <a:ext cx="9347200" cy="130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 b="1">
                    <a:solidFill>
                      <a:srgbClr val="071B3A"/>
                    </a:solidFill>
                    <a:latin typeface="Garet Bold"/>
                    <a:ea typeface="Garet Bold"/>
                    <a:cs typeface="Garet Bold"/>
                    <a:sym typeface="Garet Bold"/>
                  </a:rPr>
                  <a:t>Adapter RMSE ↓53.6%    0.5449 → 0.2529</a:t>
                </a:r>
              </a:p>
            </p:txBody>
          </p:sp>
        </p:grpSp>
      </p:grpSp>
      <p:sp>
        <p:nvSpPr>
          <p:cNvPr id="134" name="TextBox 134"/>
          <p:cNvSpPr txBox="1"/>
          <p:nvPr/>
        </p:nvSpPr>
        <p:spPr>
          <a:xfrm>
            <a:off x="933450" y="1266825"/>
            <a:ext cx="12382500" cy="18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5B6B7A"/>
                </a:solidFill>
                <a:latin typeface="Garet"/>
                <a:ea typeface="Garet"/>
                <a:cs typeface="Garet"/>
                <a:sym typeface="Garet"/>
              </a:rPr>
              <a:t>MuJoCo simulation • guarded execution • no real-robot claim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8953500" y="9474200"/>
            <a:ext cx="8686909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2F6FCE"/>
                </a:solidFill>
                <a:latin typeface="Garet"/>
                <a:ea typeface="Garet"/>
                <a:cs typeface="Garet"/>
                <a:sym typeface="Garet"/>
              </a:rPr>
              <a:t>≈94% safe-execution improvement • Final learned rollout: 302 policy calls</a:t>
            </a: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85459638-7A56-4F0C-BDEF-39ACD594D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4791432"/>
            <a:ext cx="6400800" cy="19886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8640" y="395353"/>
            <a:ext cx="12216384" cy="91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864" b="1" spc="-205" dirty="0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Limitations &amp; Next Steps</a:t>
            </a:r>
          </a:p>
        </p:txBody>
      </p:sp>
      <p:sp>
        <p:nvSpPr>
          <p:cNvPr id="4" name="Freeform 4"/>
          <p:cNvSpPr/>
          <p:nvPr/>
        </p:nvSpPr>
        <p:spPr>
          <a:xfrm>
            <a:off x="428625" y="1285875"/>
            <a:ext cx="17430750" cy="647700"/>
          </a:xfrm>
          <a:custGeom>
            <a:avLst/>
            <a:gdLst/>
            <a:ahLst/>
            <a:cxnLst/>
            <a:rect l="l" t="t" r="r" b="b"/>
            <a:pathLst>
              <a:path w="17430750" h="647700">
                <a:moveTo>
                  <a:pt x="0" y="0"/>
                </a:moveTo>
                <a:lnTo>
                  <a:pt x="17430750" y="0"/>
                </a:lnTo>
                <a:lnTo>
                  <a:pt x="17430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8625" y="1495425"/>
            <a:ext cx="2190750" cy="647700"/>
          </a:xfrm>
          <a:custGeom>
            <a:avLst/>
            <a:gdLst/>
            <a:ahLst/>
            <a:cxnLst/>
            <a:rect l="l" t="t" r="r" b="b"/>
            <a:pathLst>
              <a:path w="2190750" h="647700">
                <a:moveTo>
                  <a:pt x="0" y="0"/>
                </a:moveTo>
                <a:lnTo>
                  <a:pt x="2190750" y="0"/>
                </a:lnTo>
                <a:lnTo>
                  <a:pt x="2190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3232" y="1714155"/>
            <a:ext cx="1645920" cy="22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b="1" spc="-48" dirty="0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HONEST STATUS</a:t>
            </a:r>
          </a:p>
        </p:txBody>
      </p:sp>
      <p:sp>
        <p:nvSpPr>
          <p:cNvPr id="7" name="Freeform 7"/>
          <p:cNvSpPr/>
          <p:nvPr/>
        </p:nvSpPr>
        <p:spPr>
          <a:xfrm>
            <a:off x="428625" y="2143125"/>
            <a:ext cx="8286750" cy="6429375"/>
          </a:xfrm>
          <a:custGeom>
            <a:avLst/>
            <a:gdLst/>
            <a:ahLst/>
            <a:cxnLst/>
            <a:rect l="l" t="t" r="r" b="b"/>
            <a:pathLst>
              <a:path w="8286750" h="6429375">
                <a:moveTo>
                  <a:pt x="0" y="0"/>
                </a:moveTo>
                <a:lnTo>
                  <a:pt x="8286750" y="0"/>
                </a:lnTo>
                <a:lnTo>
                  <a:pt x="82867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6775" y="2352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47088" y="2537339"/>
            <a:ext cx="3566160" cy="42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3204" b="1" spc="-96">
                <a:solidFill>
                  <a:srgbClr val="F49B00"/>
                </a:solidFill>
                <a:latin typeface="Aileron Bold"/>
                <a:ea typeface="Aileron Bold"/>
                <a:cs typeface="Aileron Bold"/>
                <a:sym typeface="Aileron Bold"/>
              </a:rPr>
              <a:t>Current limitations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6775" y="320992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15568" y="3501390"/>
            <a:ext cx="1828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 spc="-7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24000" y="3209925"/>
            <a:ext cx="219075" cy="866775"/>
          </a:xfrm>
          <a:custGeom>
            <a:avLst/>
            <a:gdLst/>
            <a:ahLst/>
            <a:cxnLst/>
            <a:rect l="l" t="t" r="r" b="b"/>
            <a:pathLst>
              <a:path w="219075" h="866775">
                <a:moveTo>
                  <a:pt x="0" y="0"/>
                </a:moveTo>
                <a:lnTo>
                  <a:pt x="219075" y="0"/>
                </a:lnTo>
                <a:lnTo>
                  <a:pt x="2190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01952" y="3490722"/>
            <a:ext cx="486460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2146" b="1" spc="-64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Full learned end-to-end task — NOT YET</a:t>
            </a:r>
          </a:p>
        </p:txBody>
      </p:sp>
      <p:sp>
        <p:nvSpPr>
          <p:cNvPr id="14" name="Freeform 14"/>
          <p:cNvSpPr/>
          <p:nvPr/>
        </p:nvSpPr>
        <p:spPr>
          <a:xfrm>
            <a:off x="866775" y="471487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15568" y="4941570"/>
            <a:ext cx="1828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 spc="-7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4000" y="4714875"/>
            <a:ext cx="219075" cy="647700"/>
          </a:xfrm>
          <a:custGeom>
            <a:avLst/>
            <a:gdLst/>
            <a:ahLst/>
            <a:cxnLst/>
            <a:rect l="l" t="t" r="r" b="b"/>
            <a:pathLst>
              <a:path w="219075" h="647700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01952" y="4941189"/>
            <a:ext cx="466344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2146" b="1" spc="-64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Safety intervention remains necessary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01952" y="5506593"/>
            <a:ext cx="528523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928" spc="-57" dirty="0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The supervisor stopped repeated left-finger/plate contact instead of allowing unsafe continuation.</a:t>
            </a:r>
          </a:p>
        </p:txBody>
      </p:sp>
      <p:sp>
        <p:nvSpPr>
          <p:cNvPr id="19" name="Freeform 19"/>
          <p:cNvSpPr/>
          <p:nvPr/>
        </p:nvSpPr>
        <p:spPr>
          <a:xfrm>
            <a:off x="866775" y="6408130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15568" y="6680073"/>
            <a:ext cx="1828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 spc="-7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id="21" name="Freeform 21"/>
          <p:cNvSpPr/>
          <p:nvPr/>
        </p:nvSpPr>
        <p:spPr>
          <a:xfrm>
            <a:off x="1524000" y="6429375"/>
            <a:ext cx="219075" cy="857250"/>
          </a:xfrm>
          <a:custGeom>
            <a:avLst/>
            <a:gdLst/>
            <a:ahLst/>
            <a:cxnLst/>
            <a:rect l="l" t="t" r="r" b="b"/>
            <a:pathLst>
              <a:path w="219075" h="857250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901952" y="6450711"/>
            <a:ext cx="391363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224" b="1" spc="-66" dirty="0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Validation scope is still bound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12868" y="6855379"/>
            <a:ext cx="5742432" cy="93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928" dirty="0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Current evidence covers verified pipeline components, guarded execution, and deployment-path parity — not full production readiness.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9353550" y="1495425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22992" y="1743902"/>
            <a:ext cx="1737360" cy="376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814" b="1" spc="-84">
                <a:solidFill>
                  <a:srgbClr val="3869E0"/>
                </a:solidFill>
                <a:latin typeface="Aileron Bold"/>
                <a:ea typeface="Aileron Bold"/>
                <a:cs typeface="Aileron Bold"/>
                <a:sym typeface="Aileron Bold"/>
              </a:rPr>
              <a:t>Next steps</a:t>
            </a:r>
          </a:p>
        </p:txBody>
      </p:sp>
      <p:sp>
        <p:nvSpPr>
          <p:cNvPr id="26" name="Freeform 26"/>
          <p:cNvSpPr/>
          <p:nvPr/>
        </p:nvSpPr>
        <p:spPr>
          <a:xfrm>
            <a:off x="9353550" y="2352675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572625" y="3000375"/>
            <a:ext cx="447675" cy="857250"/>
          </a:xfrm>
          <a:custGeom>
            <a:avLst/>
            <a:gdLst/>
            <a:ahLst/>
            <a:cxnLst/>
            <a:rect l="l" t="t" r="r" b="b"/>
            <a:pathLst>
              <a:path w="447675" h="857250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353550" y="3857625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572625" y="4495800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353550" y="557212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572625" y="6210300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353550" y="7067550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229850" y="2143125"/>
            <a:ext cx="7629525" cy="1714500"/>
          </a:xfrm>
          <a:custGeom>
            <a:avLst/>
            <a:gdLst/>
            <a:ahLst/>
            <a:cxnLst/>
            <a:rect l="l" t="t" r="r" b="b"/>
            <a:pathLst>
              <a:path w="7629525" h="1714500">
                <a:moveTo>
                  <a:pt x="0" y="0"/>
                </a:moveTo>
                <a:lnTo>
                  <a:pt x="7629525" y="0"/>
                </a:lnTo>
                <a:lnTo>
                  <a:pt x="7629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625328" y="2538413"/>
            <a:ext cx="252374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2029" b="1" spc="-60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Expand recovery data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25328" y="2972181"/>
            <a:ext cx="482803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Train and validate more recovery-oriented behaviors around contact, collision, and joint-to-edge cases.</a:t>
            </a:r>
          </a:p>
        </p:txBody>
      </p:sp>
      <p:sp>
        <p:nvSpPr>
          <p:cNvPr id="36" name="Freeform 36"/>
          <p:cNvSpPr/>
          <p:nvPr/>
        </p:nvSpPr>
        <p:spPr>
          <a:xfrm>
            <a:off x="16325850" y="2571750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229850" y="3638550"/>
            <a:ext cx="7629525" cy="1724025"/>
          </a:xfrm>
          <a:custGeom>
            <a:avLst/>
            <a:gdLst/>
            <a:ahLst/>
            <a:cxnLst/>
            <a:rect l="l" t="t" r="r" b="b"/>
            <a:pathLst>
              <a:path w="7629525" h="1724025">
                <a:moveTo>
                  <a:pt x="0" y="0"/>
                </a:moveTo>
                <a:lnTo>
                  <a:pt x="7629525" y="0"/>
                </a:lnTo>
                <a:lnTo>
                  <a:pt x="7629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0625328" y="3978593"/>
            <a:ext cx="287121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006" b="1" spc="-60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Close the end-to-end gap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25328" y="4411599"/>
            <a:ext cx="473659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Improve policy and supervisor coordination until the complete table-setting sequence succeeds reliably under guardrails.</a:t>
            </a:r>
          </a:p>
        </p:txBody>
      </p:sp>
      <p:sp>
        <p:nvSpPr>
          <p:cNvPr id="40" name="Freeform 40"/>
          <p:cNvSpPr/>
          <p:nvPr/>
        </p:nvSpPr>
        <p:spPr>
          <a:xfrm>
            <a:off x="16325850" y="4067175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0229850" y="5353050"/>
            <a:ext cx="7629525" cy="1724025"/>
          </a:xfrm>
          <a:custGeom>
            <a:avLst/>
            <a:gdLst/>
            <a:ahLst/>
            <a:cxnLst/>
            <a:rect l="l" t="t" r="r" b="b"/>
            <a:pathLst>
              <a:path w="7629525" h="1724025">
                <a:moveTo>
                  <a:pt x="0" y="0"/>
                </a:moveTo>
                <a:lnTo>
                  <a:pt x="7629525" y="0"/>
                </a:lnTo>
                <a:lnTo>
                  <a:pt x="7629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0625328" y="5659374"/>
            <a:ext cx="213969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 spc="-59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Broaden validation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25328" y="6197155"/>
            <a:ext cx="473659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Test more table layouts, object placements, camera conditions, and repeated trials on real edge hardware.</a:t>
            </a:r>
          </a:p>
        </p:txBody>
      </p:sp>
      <p:sp>
        <p:nvSpPr>
          <p:cNvPr id="44" name="Freeform 44"/>
          <p:cNvSpPr/>
          <p:nvPr/>
        </p:nvSpPr>
        <p:spPr>
          <a:xfrm>
            <a:off x="16325850" y="5781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0229850" y="6858000"/>
            <a:ext cx="7629525" cy="1714500"/>
          </a:xfrm>
          <a:custGeom>
            <a:avLst/>
            <a:gdLst/>
            <a:ahLst/>
            <a:cxnLst/>
            <a:rect l="l" t="t" r="r" b="b"/>
            <a:pathLst>
              <a:path w="7629525" h="1714500">
                <a:moveTo>
                  <a:pt x="0" y="0"/>
                </a:moveTo>
                <a:lnTo>
                  <a:pt x="7629525" y="0"/>
                </a:lnTo>
                <a:lnTo>
                  <a:pt x="7629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901952" y="4063746"/>
            <a:ext cx="51572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5"/>
              </a:lnSpc>
              <a:spcBef>
                <a:spcPct val="0"/>
              </a:spcBef>
            </a:pPr>
            <a:r>
              <a:rPr lang="en-US" sz="1762" u="none" strike="noStrike" spc="-52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Completion not achieved.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625328" y="7204711"/>
            <a:ext cx="4538472" cy="28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 spc="-59" dirty="0">
                <a:solidFill>
                  <a:srgbClr val="001544"/>
                </a:solidFill>
                <a:latin typeface="Aileron Bold"/>
                <a:ea typeface="Aileron Bold"/>
                <a:cs typeface="Aileron Bold"/>
                <a:sym typeface="Aileron Bold"/>
              </a:rPr>
              <a:t>Prepare deployment evidence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625328" y="7610856"/>
            <a:ext cx="482803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 dirty="0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Report repeatable success, safety-stop frequency, latency, and failure-mode results before making broader claims.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729216" y="2575560"/>
            <a:ext cx="1828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 spc="-7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29216" y="4087749"/>
            <a:ext cx="1828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 spc="-7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29216" y="5692521"/>
            <a:ext cx="1828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 spc="-7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729216" y="7204710"/>
            <a:ext cx="18288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 spc="-7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901952" y="7842794"/>
            <a:ext cx="666750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1544"/>
                </a:solidFill>
                <a:latin typeface="Aileron"/>
                <a:ea typeface="Aileron"/>
                <a:cs typeface="Aileron"/>
                <a:sym typeface="Aileron"/>
              </a:rPr>
              <a:t>Long-horizon bimanual action drift and geometry-contact risk remain unresolved.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947</Words>
  <Application>Microsoft Office PowerPoint</Application>
  <PresentationFormat>Custom</PresentationFormat>
  <Paragraphs>171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4" baseType="lpstr">
      <vt:lpstr>Inter Bold</vt:lpstr>
      <vt:lpstr>Roboto Bold</vt:lpstr>
      <vt:lpstr>Inter</vt:lpstr>
      <vt:lpstr>Roboto</vt:lpstr>
      <vt:lpstr>Garet Bold</vt:lpstr>
      <vt:lpstr>Calibri</vt:lpstr>
      <vt:lpstr>Arial</vt:lpstr>
      <vt:lpstr>Montserrat Medium</vt:lpstr>
      <vt:lpstr>Montserrat Semi-Bold</vt:lpstr>
      <vt:lpstr>DM Sans</vt:lpstr>
      <vt:lpstr>Aileron</vt:lpstr>
      <vt:lpstr>Montserrat Bold</vt:lpstr>
      <vt:lpstr>Arial Black</vt:lpstr>
      <vt:lpstr>Aileron Bold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Action Authorization Presentation</dc:title>
  <dc:creator>Fiza</dc:creator>
  <cp:lastModifiedBy>Fiza</cp:lastModifiedBy>
  <cp:revision>18</cp:revision>
  <dcterms:created xsi:type="dcterms:W3CDTF">2006-08-16T00:00:00Z</dcterms:created>
  <dcterms:modified xsi:type="dcterms:W3CDTF">2026-09-16T17:27:39Z</dcterms:modified>
  <dc:identifier>DAHVWzTGTV0</dc:identifier>
</cp:coreProperties>
</file>